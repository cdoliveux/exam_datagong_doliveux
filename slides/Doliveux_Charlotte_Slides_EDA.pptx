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5"/>
  </p:notesMasterIdLst>
  <p:handoutMasterIdLst>
    <p:handoutMasterId r:id="rId26"/>
  </p:handoutMasterIdLst>
  <p:sldIdLst>
    <p:sldId id="256" r:id="rId5"/>
    <p:sldId id="261" r:id="rId6"/>
    <p:sldId id="295" r:id="rId7"/>
    <p:sldId id="296" r:id="rId8"/>
    <p:sldId id="262" r:id="rId9"/>
    <p:sldId id="289" r:id="rId10"/>
    <p:sldId id="264" r:id="rId11"/>
    <p:sldId id="258" r:id="rId12"/>
    <p:sldId id="278" r:id="rId13"/>
    <p:sldId id="266" r:id="rId14"/>
    <p:sldId id="292" r:id="rId15"/>
    <p:sldId id="268" r:id="rId16"/>
    <p:sldId id="280" r:id="rId17"/>
    <p:sldId id="270" r:id="rId18"/>
    <p:sldId id="293" r:id="rId19"/>
    <p:sldId id="294" r:id="rId20"/>
    <p:sldId id="260" r:id="rId21"/>
    <p:sldId id="290"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93" d="100"/>
          <a:sy n="93" d="100"/>
        </p:scale>
        <p:origin x="1188" y="30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[$$-409]#,##0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053-449F-8EEE-DAFE02C9D55A}"/>
              </c:ext>
            </c:extLst>
          </c:dPt>
          <c:dPt>
            <c:idx val="1"/>
            <c:bubble3D val="0"/>
            <c:spPr>
              <a:solidFill>
                <a:schemeClr val="accent1"/>
              </a:solidFill>
              <a:ln w="19050">
                <a:noFill/>
              </a:ln>
              <a:effectLst/>
            </c:spPr>
            <c:extLst>
              <c:ext xmlns:c16="http://schemas.microsoft.com/office/drawing/2014/chart" uri="{C3380CC4-5D6E-409C-BE32-E72D297353CC}">
                <c16:uniqueId val="{00000003-D053-449F-8EEE-DAFE02C9D55A}"/>
              </c:ext>
            </c:extLst>
          </c:dPt>
          <c:dPt>
            <c:idx val="2"/>
            <c:bubble3D val="0"/>
            <c:spPr>
              <a:solidFill>
                <a:schemeClr val="accent1">
                  <a:lumMod val="75000"/>
                </a:schemeClr>
              </a:solidFill>
              <a:ln w="19050">
                <a:noFill/>
              </a:ln>
              <a:effectLst/>
            </c:spPr>
            <c:extLst>
              <c:ext xmlns:c16="http://schemas.microsoft.com/office/drawing/2014/chart" uri="{C3380CC4-5D6E-409C-BE32-E72D297353CC}">
                <c16:uniqueId val="{00000005-D053-449F-8EEE-DAFE02C9D55A}"/>
              </c:ext>
            </c:extLst>
          </c:dPt>
          <c:dPt>
            <c:idx val="3"/>
            <c:bubble3D val="0"/>
            <c:spPr>
              <a:solidFill>
                <a:schemeClr val="accent1"/>
              </a:solidFill>
              <a:ln w="19050">
                <a:noFill/>
              </a:ln>
              <a:effectLst/>
            </c:spPr>
            <c:extLst>
              <c:ext xmlns:c16="http://schemas.microsoft.com/office/drawing/2014/chart" uri="{C3380CC4-5D6E-409C-BE32-E72D297353CC}">
                <c16:uniqueId val="{00000007-D053-449F-8EEE-DAFE02C9D55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053-449F-8EEE-DAFE02C9D55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68FD-4EB0-96B7-77E7434B1C75}"/>
              </c:ext>
            </c:extLst>
          </c:dPt>
          <c:dPt>
            <c:idx val="1"/>
            <c:bubble3D val="0"/>
            <c:spPr>
              <a:solidFill>
                <a:schemeClr val="accent1"/>
              </a:solidFill>
              <a:ln w="19050">
                <a:noFill/>
              </a:ln>
              <a:effectLst/>
            </c:spPr>
            <c:extLst>
              <c:ext xmlns:c16="http://schemas.microsoft.com/office/drawing/2014/chart" uri="{C3380CC4-5D6E-409C-BE32-E72D297353CC}">
                <c16:uniqueId val="{00000003-68FD-4EB0-96B7-77E7434B1C75}"/>
              </c:ext>
            </c:extLst>
          </c:dPt>
          <c:dPt>
            <c:idx val="2"/>
            <c:bubble3D val="0"/>
            <c:spPr>
              <a:solidFill>
                <a:schemeClr val="accent1"/>
              </a:solidFill>
              <a:ln w="19050">
                <a:noFill/>
              </a:ln>
              <a:effectLst/>
            </c:spPr>
            <c:extLst>
              <c:ext xmlns:c16="http://schemas.microsoft.com/office/drawing/2014/chart" uri="{C3380CC4-5D6E-409C-BE32-E72D297353CC}">
                <c16:uniqueId val="{00000005-68FD-4EB0-96B7-77E7434B1C75}"/>
              </c:ext>
            </c:extLst>
          </c:dPt>
          <c:dPt>
            <c:idx val="3"/>
            <c:bubble3D val="0"/>
            <c:spPr>
              <a:solidFill>
                <a:schemeClr val="accent1">
                  <a:lumMod val="75000"/>
                </a:schemeClr>
              </a:solidFill>
              <a:ln w="19050">
                <a:noFill/>
              </a:ln>
              <a:effectLst/>
            </c:spPr>
            <c:extLst>
              <c:ext xmlns:c16="http://schemas.microsoft.com/office/drawing/2014/chart" uri="{C3380CC4-5D6E-409C-BE32-E72D297353CC}">
                <c16:uniqueId val="{00000007-68FD-4EB0-96B7-77E7434B1C75}"/>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68FD-4EB0-96B7-77E7434B1C75}"/>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lumMod val="75000"/>
                </a:schemeClr>
              </a:solidFill>
              <a:ln w="19050">
                <a:noFill/>
              </a:ln>
              <a:effectLst/>
            </c:spPr>
            <c:extLst>
              <c:ext xmlns:c16="http://schemas.microsoft.com/office/drawing/2014/chart" uri="{C3380CC4-5D6E-409C-BE32-E72D297353CC}">
                <c16:uniqueId val="{00000001-F8DE-4407-9084-86239413ECEC}"/>
              </c:ext>
            </c:extLst>
          </c:dPt>
          <c:dPt>
            <c:idx val="1"/>
            <c:bubble3D val="0"/>
            <c:spPr>
              <a:solidFill>
                <a:schemeClr val="accent1"/>
              </a:solidFill>
              <a:ln w="19050">
                <a:noFill/>
              </a:ln>
              <a:effectLst/>
            </c:spPr>
            <c:extLst>
              <c:ext xmlns:c16="http://schemas.microsoft.com/office/drawing/2014/chart" uri="{C3380CC4-5D6E-409C-BE32-E72D297353CC}">
                <c16:uniqueId val="{00000003-F8DE-4407-9084-86239413ECEC}"/>
              </c:ext>
            </c:extLst>
          </c:dPt>
          <c:dPt>
            <c:idx val="2"/>
            <c:bubble3D val="0"/>
            <c:spPr>
              <a:solidFill>
                <a:schemeClr val="accent1"/>
              </a:solidFill>
              <a:ln w="19050">
                <a:noFill/>
              </a:ln>
              <a:effectLst/>
            </c:spPr>
            <c:extLst>
              <c:ext xmlns:c16="http://schemas.microsoft.com/office/drawing/2014/chart" uri="{C3380CC4-5D6E-409C-BE32-E72D297353CC}">
                <c16:uniqueId val="{00000005-F8DE-4407-9084-86239413ECEC}"/>
              </c:ext>
            </c:extLst>
          </c:dPt>
          <c:dPt>
            <c:idx val="3"/>
            <c:bubble3D val="0"/>
            <c:spPr>
              <a:solidFill>
                <a:schemeClr val="accent1"/>
              </a:solidFill>
              <a:ln w="19050">
                <a:noFill/>
              </a:ln>
              <a:effectLst/>
            </c:spPr>
            <c:extLst>
              <c:ext xmlns:c16="http://schemas.microsoft.com/office/drawing/2014/chart" uri="{C3380CC4-5D6E-409C-BE32-E72D297353CC}">
                <c16:uniqueId val="{00000007-F8DE-4407-9084-86239413ECE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F8DE-4407-9084-86239413ECE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D2F-44F6-B0B4-AE7D2AD35A4D}"/>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7D2F-44F6-B0B4-AE7D2AD35A4D}"/>
              </c:ext>
            </c:extLst>
          </c:dPt>
          <c:dPt>
            <c:idx val="2"/>
            <c:bubble3D val="0"/>
            <c:spPr>
              <a:solidFill>
                <a:schemeClr val="accent1"/>
              </a:solidFill>
              <a:ln w="19050">
                <a:noFill/>
              </a:ln>
              <a:effectLst/>
            </c:spPr>
            <c:extLst>
              <c:ext xmlns:c16="http://schemas.microsoft.com/office/drawing/2014/chart" uri="{C3380CC4-5D6E-409C-BE32-E72D297353CC}">
                <c16:uniqueId val="{00000005-7D2F-44F6-B0B4-AE7D2AD35A4D}"/>
              </c:ext>
            </c:extLst>
          </c:dPt>
          <c:dPt>
            <c:idx val="3"/>
            <c:bubble3D val="0"/>
            <c:spPr>
              <a:solidFill>
                <a:schemeClr val="accent1"/>
              </a:solidFill>
              <a:ln w="19050">
                <a:noFill/>
              </a:ln>
              <a:effectLst/>
            </c:spPr>
            <c:extLst>
              <c:ext xmlns:c16="http://schemas.microsoft.com/office/drawing/2014/chart" uri="{C3380CC4-5D6E-409C-BE32-E72D297353CC}">
                <c16:uniqueId val="{00000007-7D2F-44F6-B0B4-AE7D2AD35A4D}"/>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7D2F-44F6-B0B4-AE7D2AD35A4D}"/>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013D1B-DF88-472C-8A8F-4BC871F28983}"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7ADCA8B-6558-4616-A18A-6176483B1874}">
      <dgm:prSet/>
      <dgm:spPr/>
      <dgm:t>
        <a:bodyPr/>
        <a:lstStyle/>
        <a:p>
          <a:pPr>
            <a:lnSpc>
              <a:spcPct val="100000"/>
            </a:lnSpc>
            <a:defRPr b="1"/>
          </a:pPr>
          <a:r>
            <a:rPr lang="en-US" dirty="0" err="1"/>
            <a:t>Contexte</a:t>
          </a:r>
          <a:r>
            <a:rPr lang="en-US" dirty="0"/>
            <a:t>​</a:t>
          </a:r>
        </a:p>
      </dgm:t>
    </dgm:pt>
    <dgm:pt modelId="{61D67277-9584-40F5-A0B5-E568A39A9997}" type="parTrans" cxnId="{096E3B11-4427-4C6D-8A7C-090E9FA9DEF1}">
      <dgm:prSet/>
      <dgm:spPr/>
      <dgm:t>
        <a:bodyPr/>
        <a:lstStyle/>
        <a:p>
          <a:endParaRPr lang="en-US"/>
        </a:p>
      </dgm:t>
    </dgm:pt>
    <dgm:pt modelId="{9865A5E6-12B4-4886-84DF-8336269FE9D4}" type="sibTrans" cxnId="{096E3B11-4427-4C6D-8A7C-090E9FA9DEF1}">
      <dgm:prSet/>
      <dgm:spPr/>
      <dgm:t>
        <a:bodyPr/>
        <a:lstStyle/>
        <a:p>
          <a:pPr>
            <a:lnSpc>
              <a:spcPct val="100000"/>
            </a:lnSpc>
            <a:defRPr b="1"/>
          </a:pPr>
          <a:endParaRPr lang="en-US"/>
        </a:p>
      </dgm:t>
    </dgm:pt>
    <dgm:pt modelId="{E1152792-7568-4D13-9D42-AAC97BEF2505}">
      <dgm:prSet/>
      <dgm:spPr/>
      <dgm:t>
        <a:bodyPr/>
        <a:lstStyle/>
        <a:p>
          <a:pPr>
            <a:lnSpc>
              <a:spcPct val="100000"/>
            </a:lnSpc>
          </a:pPr>
          <a:r>
            <a:rPr lang="en-US" dirty="0"/>
            <a:t>Le </a:t>
          </a:r>
          <a:r>
            <a:rPr lang="en-US" dirty="0" err="1"/>
            <a:t>projet</a:t>
          </a:r>
          <a:r>
            <a:rPr lang="en-US" dirty="0"/>
            <a:t> </a:t>
          </a:r>
          <a:r>
            <a:rPr lang="en-US" dirty="0" err="1"/>
            <a:t>consiste</a:t>
          </a:r>
          <a:r>
            <a:rPr lang="en-US" dirty="0"/>
            <a:t> à faire </a:t>
          </a:r>
          <a:r>
            <a:rPr lang="en-US" dirty="0" err="1"/>
            <a:t>une</a:t>
          </a:r>
          <a:r>
            <a:rPr lang="en-US" dirty="0"/>
            <a:t> </a:t>
          </a:r>
          <a:r>
            <a:rPr lang="en-US" dirty="0" err="1"/>
            <a:t>analyse</a:t>
          </a:r>
          <a:r>
            <a:rPr lang="en-US" dirty="0"/>
            <a:t> de </a:t>
          </a:r>
          <a:r>
            <a:rPr lang="fr-FR" dirty="0"/>
            <a:t>la performance de</a:t>
          </a:r>
          <a:r>
            <a:rPr lang="en-US" dirty="0"/>
            <a:t> « </a:t>
          </a:r>
          <a:r>
            <a:rPr lang="en-US" dirty="0" err="1"/>
            <a:t>TheLook</a:t>
          </a:r>
          <a:r>
            <a:rPr lang="en-US" dirty="0"/>
            <a:t> Europe », </a:t>
          </a:r>
          <a:r>
            <a:rPr lang="fr-FR" dirty="0"/>
            <a:t>sur un périmètre précis et de comparer l’année 2024 à l’année 2023.</a:t>
          </a:r>
        </a:p>
      </dgm:t>
    </dgm:pt>
    <dgm:pt modelId="{03C9B191-291E-45F7-AC50-DCCF55B852F2}" type="parTrans" cxnId="{DF1D3734-5F2B-4E7B-AA33-700E23E870A3}">
      <dgm:prSet/>
      <dgm:spPr/>
      <dgm:t>
        <a:bodyPr/>
        <a:lstStyle/>
        <a:p>
          <a:endParaRPr lang="en-US"/>
        </a:p>
      </dgm:t>
    </dgm:pt>
    <dgm:pt modelId="{38EE40A1-D549-443D-BA86-EC65088EB077}" type="sibTrans" cxnId="{DF1D3734-5F2B-4E7B-AA33-700E23E870A3}">
      <dgm:prSet/>
      <dgm:spPr/>
      <dgm:t>
        <a:bodyPr/>
        <a:lstStyle/>
        <a:p>
          <a:endParaRPr lang="en-US"/>
        </a:p>
      </dgm:t>
    </dgm:pt>
    <dgm:pt modelId="{7E0C9005-03B2-4801-A98E-98C3BAC6275E}">
      <dgm:prSet/>
      <dgm:spPr/>
      <dgm:t>
        <a:bodyPr/>
        <a:lstStyle/>
        <a:p>
          <a:pPr>
            <a:lnSpc>
              <a:spcPct val="100000"/>
            </a:lnSpc>
            <a:defRPr b="1"/>
          </a:pPr>
          <a:r>
            <a:rPr lang="en-US" dirty="0" err="1"/>
            <a:t>Objectifs</a:t>
          </a:r>
          <a:r>
            <a:rPr lang="en-US" dirty="0"/>
            <a:t> </a:t>
          </a:r>
        </a:p>
      </dgm:t>
    </dgm:pt>
    <dgm:pt modelId="{87B0AB9E-4BE8-464D-A135-23BFE22BE802}" type="parTrans" cxnId="{A9A5F3BA-CE99-4947-8DC2-B47F38E28F3A}">
      <dgm:prSet/>
      <dgm:spPr/>
      <dgm:t>
        <a:bodyPr/>
        <a:lstStyle/>
        <a:p>
          <a:endParaRPr lang="en-US"/>
        </a:p>
      </dgm:t>
    </dgm:pt>
    <dgm:pt modelId="{BC3BDE94-7F8F-4DD1-BF89-EECD768607B2}" type="sibTrans" cxnId="{A9A5F3BA-CE99-4947-8DC2-B47F38E28F3A}">
      <dgm:prSet/>
      <dgm:spPr/>
      <dgm:t>
        <a:bodyPr/>
        <a:lstStyle/>
        <a:p>
          <a:pPr>
            <a:lnSpc>
              <a:spcPct val="100000"/>
            </a:lnSpc>
            <a:defRPr b="1"/>
          </a:pPr>
          <a:endParaRPr lang="en-US"/>
        </a:p>
      </dgm:t>
    </dgm:pt>
    <dgm:pt modelId="{FF1588E8-AF4D-4D9B-B4DC-649D428429B4}">
      <dgm:prSet/>
      <dgm:spPr/>
      <dgm:t>
        <a:bodyPr/>
        <a:lstStyle/>
        <a:p>
          <a:pPr>
            <a:lnSpc>
              <a:spcPct val="100000"/>
            </a:lnSpc>
          </a:pPr>
          <a:r>
            <a:rPr lang="fr-FR" dirty="0"/>
            <a:t>Comprendre les dynamiques de :</a:t>
          </a:r>
        </a:p>
        <a:p>
          <a:pPr>
            <a:lnSpc>
              <a:spcPct val="100000"/>
            </a:lnSpc>
          </a:pPr>
          <a:r>
            <a:rPr lang="fr-FR" dirty="0"/>
            <a:t>- Chiffre d’affaires</a:t>
          </a:r>
        </a:p>
        <a:p>
          <a:pPr>
            <a:lnSpc>
              <a:spcPct val="100000"/>
            </a:lnSpc>
          </a:pPr>
          <a:r>
            <a:rPr lang="fr-FR" dirty="0"/>
            <a:t>- Marge</a:t>
          </a:r>
        </a:p>
        <a:p>
          <a:pPr>
            <a:lnSpc>
              <a:spcPct val="100000"/>
            </a:lnSpc>
          </a:pPr>
          <a:r>
            <a:rPr lang="fr-FR" dirty="0"/>
            <a:t>- Panier Moyen</a:t>
          </a:r>
        </a:p>
        <a:p>
          <a:pPr>
            <a:lnSpc>
              <a:spcPct val="100000"/>
            </a:lnSpc>
          </a:pPr>
          <a:r>
            <a:rPr lang="fr-FR" dirty="0"/>
            <a:t>- Taux de  retours </a:t>
          </a:r>
        </a:p>
        <a:p>
          <a:pPr>
            <a:lnSpc>
              <a:spcPct val="100000"/>
            </a:lnSpc>
          </a:pPr>
          <a:r>
            <a:rPr lang="fr-FR" dirty="0"/>
            <a:t>- Taux de réachat </a:t>
          </a:r>
        </a:p>
        <a:p>
          <a:pPr>
            <a:lnSpc>
              <a:spcPct val="100000"/>
            </a:lnSpc>
          </a:pPr>
          <a:r>
            <a:rPr lang="fr-FR" dirty="0"/>
            <a:t>puis restituer des enseignements clairs via un tableau de bord Power BI.</a:t>
          </a:r>
          <a:endParaRPr lang="en-US" dirty="0"/>
        </a:p>
      </dgm:t>
    </dgm:pt>
    <dgm:pt modelId="{ACC79437-A59C-4232-BA53-C80F6EDDB0A3}" type="parTrans" cxnId="{8847EE83-A7DC-473E-90B2-22187850CAAE}">
      <dgm:prSet/>
      <dgm:spPr/>
      <dgm:t>
        <a:bodyPr/>
        <a:lstStyle/>
        <a:p>
          <a:endParaRPr lang="en-US"/>
        </a:p>
      </dgm:t>
    </dgm:pt>
    <dgm:pt modelId="{83D56D50-3ED0-4EFC-B7E2-56382205F93E}" type="sibTrans" cxnId="{8847EE83-A7DC-473E-90B2-22187850CAAE}">
      <dgm:prSet/>
      <dgm:spPr/>
      <dgm:t>
        <a:bodyPr/>
        <a:lstStyle/>
        <a:p>
          <a:endParaRPr lang="en-US"/>
        </a:p>
      </dgm:t>
    </dgm:pt>
    <dgm:pt modelId="{5607AEA1-FC03-476E-9121-A1BD851A258C}">
      <dgm:prSet/>
      <dgm:spPr/>
      <dgm:t>
        <a:bodyPr/>
        <a:lstStyle/>
        <a:p>
          <a:pPr>
            <a:lnSpc>
              <a:spcPct val="100000"/>
            </a:lnSpc>
            <a:defRPr b="1"/>
          </a:pPr>
          <a:r>
            <a:rPr lang="en-US" dirty="0" err="1"/>
            <a:t>Outils</a:t>
          </a:r>
          <a:r>
            <a:rPr lang="en-US" dirty="0"/>
            <a:t>​</a:t>
          </a:r>
        </a:p>
      </dgm:t>
    </dgm:pt>
    <dgm:pt modelId="{43230924-F632-44CC-B7CE-6D1C31EC70D8}" type="parTrans" cxnId="{BB14DB29-920E-4B41-8475-3AE74B012348}">
      <dgm:prSet/>
      <dgm:spPr/>
      <dgm:t>
        <a:bodyPr/>
        <a:lstStyle/>
        <a:p>
          <a:endParaRPr lang="en-US"/>
        </a:p>
      </dgm:t>
    </dgm:pt>
    <dgm:pt modelId="{FC880DCC-A782-4637-9403-BBFCA5F8DF4B}" type="sibTrans" cxnId="{BB14DB29-920E-4B41-8475-3AE74B012348}">
      <dgm:prSet/>
      <dgm:spPr/>
      <dgm:t>
        <a:bodyPr/>
        <a:lstStyle/>
        <a:p>
          <a:endParaRPr lang="en-US"/>
        </a:p>
      </dgm:t>
    </dgm:pt>
    <dgm:pt modelId="{E95874DC-5493-4539-863A-48668D95E024}">
      <dgm:prSet/>
      <dgm:spPr/>
      <dgm:t>
        <a:bodyPr/>
        <a:lstStyle/>
        <a:p>
          <a:pPr>
            <a:lnSpc>
              <a:spcPct val="100000"/>
            </a:lnSpc>
            <a:buFont typeface="Arial" panose="020B0604020202020204" pitchFamily="34" charset="0"/>
            <a:buChar char="•"/>
          </a:pPr>
          <a:r>
            <a:rPr lang="en-US" b="1" dirty="0"/>
            <a:t>- SQL (Big Query): </a:t>
          </a:r>
          <a:r>
            <a:rPr lang="en-US" dirty="0" err="1"/>
            <a:t>création</a:t>
          </a:r>
          <a:r>
            <a:rPr lang="en-US" dirty="0"/>
            <a:t> </a:t>
          </a:r>
          <a:r>
            <a:rPr lang="en-US" dirty="0" err="1"/>
            <a:t>d’une</a:t>
          </a:r>
          <a:r>
            <a:rPr lang="en-US" dirty="0"/>
            <a:t> </a:t>
          </a:r>
          <a:r>
            <a:rPr lang="en-US" dirty="0" err="1"/>
            <a:t>requête</a:t>
          </a:r>
          <a:r>
            <a:rPr lang="en-US" dirty="0"/>
            <a:t> pour </a:t>
          </a:r>
          <a:r>
            <a:rPr lang="en-US" dirty="0" err="1"/>
            <a:t>extraire</a:t>
          </a:r>
          <a:r>
            <a:rPr lang="en-US" dirty="0"/>
            <a:t> </a:t>
          </a:r>
          <a:r>
            <a:rPr lang="en-US" i="1" dirty="0"/>
            <a:t>(</a:t>
          </a:r>
          <a:r>
            <a:rPr lang="en-US" i="1" dirty="0" err="1"/>
            <a:t>reconstituer</a:t>
          </a:r>
          <a:r>
            <a:rPr lang="en-US" i="1" dirty="0"/>
            <a:t>) </a:t>
          </a:r>
          <a:r>
            <a:rPr lang="en-US" i="0" dirty="0"/>
            <a:t>les données à </a:t>
          </a:r>
          <a:r>
            <a:rPr lang="en-US" i="0" dirty="0" err="1"/>
            <a:t>analyser</a:t>
          </a:r>
          <a:r>
            <a:rPr lang="en-US" i="0" dirty="0"/>
            <a:t>, et </a:t>
          </a:r>
          <a:r>
            <a:rPr lang="en-US" i="0" dirty="0" err="1"/>
            <a:t>également</a:t>
          </a:r>
          <a:r>
            <a:rPr lang="en-US" i="0" dirty="0"/>
            <a:t> de </a:t>
          </a:r>
          <a:r>
            <a:rPr lang="en-US" i="0" dirty="0" err="1"/>
            <a:t>requêtes</a:t>
          </a:r>
          <a:r>
            <a:rPr lang="en-US" i="0" dirty="0"/>
            <a:t> pour </a:t>
          </a:r>
          <a:r>
            <a:rPr lang="en-US" i="0" dirty="0" err="1"/>
            <a:t>calculer</a:t>
          </a:r>
          <a:r>
            <a:rPr lang="en-US" i="0" dirty="0"/>
            <a:t> les KPIs</a:t>
          </a:r>
        </a:p>
        <a:p>
          <a:pPr>
            <a:lnSpc>
              <a:spcPct val="100000"/>
            </a:lnSpc>
            <a:buFont typeface="Arial" panose="020B0604020202020204" pitchFamily="34" charset="0"/>
            <a:buChar char="•"/>
          </a:pPr>
          <a:r>
            <a:rPr lang="en-US" b="1" i="0" dirty="0"/>
            <a:t>- VS Code : </a:t>
          </a:r>
          <a:r>
            <a:rPr lang="en-US" i="0" dirty="0" err="1"/>
            <a:t>nettoyage</a:t>
          </a:r>
          <a:r>
            <a:rPr lang="en-US" i="0" dirty="0"/>
            <a:t> des données, </a:t>
          </a:r>
          <a:r>
            <a:rPr lang="en-US" i="0" dirty="0" err="1"/>
            <a:t>création</a:t>
          </a:r>
          <a:r>
            <a:rPr lang="en-US" i="0" dirty="0"/>
            <a:t> des KPIs, visualization</a:t>
          </a:r>
        </a:p>
        <a:p>
          <a:pPr>
            <a:lnSpc>
              <a:spcPct val="100000"/>
            </a:lnSpc>
            <a:buFont typeface="Arial" panose="020B0604020202020204" pitchFamily="34" charset="0"/>
            <a:buChar char="•"/>
          </a:pPr>
          <a:r>
            <a:rPr lang="en-US" i="0" dirty="0"/>
            <a:t>Les KPIs </a:t>
          </a:r>
          <a:r>
            <a:rPr lang="en-US" i="0" dirty="0" err="1"/>
            <a:t>seront</a:t>
          </a:r>
          <a:r>
            <a:rPr lang="en-US" i="0" dirty="0"/>
            <a:t> </a:t>
          </a:r>
          <a:r>
            <a:rPr lang="en-US" i="0" dirty="0" err="1"/>
            <a:t>testés</a:t>
          </a:r>
          <a:r>
            <a:rPr lang="en-US" i="0" dirty="0"/>
            <a:t> dans VS Code </a:t>
          </a:r>
          <a:r>
            <a:rPr lang="en-US" i="0" dirty="0" err="1"/>
            <a:t>mais</a:t>
          </a:r>
          <a:r>
            <a:rPr lang="en-US" i="0" dirty="0"/>
            <a:t> </a:t>
          </a:r>
          <a:r>
            <a:rPr lang="en-US" i="0" dirty="0" err="1"/>
            <a:t>aussi</a:t>
          </a:r>
          <a:r>
            <a:rPr lang="en-US" i="0" dirty="0"/>
            <a:t> </a:t>
          </a:r>
          <a:r>
            <a:rPr lang="en-US" i="0" dirty="0" err="1"/>
            <a:t>comparés</a:t>
          </a:r>
          <a:r>
            <a:rPr lang="en-US" i="0" dirty="0"/>
            <a:t> avec les </a:t>
          </a:r>
          <a:r>
            <a:rPr lang="en-US" i="0" dirty="0" err="1"/>
            <a:t>résultats</a:t>
          </a:r>
          <a:r>
            <a:rPr lang="en-US" i="0" dirty="0"/>
            <a:t> </a:t>
          </a:r>
          <a:r>
            <a:rPr lang="en-US" i="0" dirty="0" err="1"/>
            <a:t>obtenus</a:t>
          </a:r>
          <a:r>
            <a:rPr lang="en-US" i="0" dirty="0"/>
            <a:t> dans SQL / Power BI</a:t>
          </a:r>
        </a:p>
        <a:p>
          <a:pPr>
            <a:lnSpc>
              <a:spcPct val="100000"/>
            </a:lnSpc>
            <a:buFont typeface="Arial" panose="020B0604020202020204" pitchFamily="34" charset="0"/>
            <a:buChar char="•"/>
          </a:pPr>
          <a:r>
            <a:rPr lang="en-US" b="1" i="0" dirty="0"/>
            <a:t>- Power BI : </a:t>
          </a:r>
          <a:r>
            <a:rPr lang="en-US" b="1" i="0" dirty="0" err="1"/>
            <a:t>Outil</a:t>
          </a:r>
          <a:r>
            <a:rPr lang="en-US" b="1" i="0" dirty="0"/>
            <a:t> de </a:t>
          </a:r>
          <a:r>
            <a:rPr lang="en-US" b="1" i="0" dirty="0" err="1"/>
            <a:t>l’utilisateur</a:t>
          </a:r>
          <a:r>
            <a:rPr lang="en-US" b="1" i="0" dirty="0"/>
            <a:t> final. </a:t>
          </a:r>
          <a:r>
            <a:rPr lang="en-US" b="0" i="0" dirty="0"/>
            <a:t>Les KPIs / </a:t>
          </a:r>
          <a:r>
            <a:rPr lang="en-US" b="0" i="0" dirty="0" err="1"/>
            <a:t>visuels</a:t>
          </a:r>
          <a:r>
            <a:rPr lang="en-US" b="0" i="0" dirty="0"/>
            <a:t> </a:t>
          </a:r>
          <a:r>
            <a:rPr lang="en-US" b="0" i="0" dirty="0" err="1"/>
            <a:t>seront</a:t>
          </a:r>
          <a:r>
            <a:rPr lang="en-US" b="0" i="0" dirty="0"/>
            <a:t> compares avec </a:t>
          </a:r>
          <a:r>
            <a:rPr lang="en-US" b="0" i="0" dirty="0" err="1"/>
            <a:t>ceux</a:t>
          </a:r>
          <a:r>
            <a:rPr lang="en-US" b="0" i="0" dirty="0"/>
            <a:t> </a:t>
          </a:r>
          <a:r>
            <a:rPr lang="en-US" b="0" i="0" dirty="0" err="1"/>
            <a:t>obtenus</a:t>
          </a:r>
          <a:r>
            <a:rPr lang="en-US" b="0" i="0" dirty="0"/>
            <a:t> dans VS Code.</a:t>
          </a:r>
        </a:p>
      </dgm:t>
    </dgm:pt>
    <dgm:pt modelId="{28F797B8-BF6F-4A26-BC7A-E32D14BA7573}" type="parTrans" cxnId="{7D74CBA3-678B-4F4B-8C4E-6477B1885D35}">
      <dgm:prSet/>
      <dgm:spPr/>
      <dgm:t>
        <a:bodyPr/>
        <a:lstStyle/>
        <a:p>
          <a:endParaRPr lang="en-US"/>
        </a:p>
      </dgm:t>
    </dgm:pt>
    <dgm:pt modelId="{C3201B78-4D4E-4753-82A8-566CF0605F5C}" type="sibTrans" cxnId="{7D74CBA3-678B-4F4B-8C4E-6477B1885D35}">
      <dgm:prSet/>
      <dgm:spPr/>
      <dgm:t>
        <a:bodyPr/>
        <a:lstStyle/>
        <a:p>
          <a:endParaRPr lang="en-US"/>
        </a:p>
      </dgm:t>
    </dgm:pt>
    <dgm:pt modelId="{F7BCF029-39A5-45AA-BD51-A49D33CC4CDA}" type="pres">
      <dgm:prSet presAssocID="{D3013D1B-DF88-472C-8A8F-4BC871F28983}" presName="Name0" presStyleCnt="0">
        <dgm:presLayoutVars>
          <dgm:dir/>
          <dgm:resizeHandles val="exact"/>
        </dgm:presLayoutVars>
      </dgm:prSet>
      <dgm:spPr/>
    </dgm:pt>
    <dgm:pt modelId="{55FDF973-06DB-4758-8A1F-9ED66005ABEA}" type="pres">
      <dgm:prSet presAssocID="{77ADCA8B-6558-4616-A18A-6176483B1874}" presName="compNode" presStyleCnt="0"/>
      <dgm:spPr/>
    </dgm:pt>
    <dgm:pt modelId="{1D6585A2-CD02-4110-AA7F-B1E8C872D517}" type="pres">
      <dgm:prSet presAssocID="{77ADCA8B-6558-4616-A18A-6176483B1874}" presName="pictRect" presStyleLbl="revTx" presStyleIdx="0" presStyleCnt="6">
        <dgm:presLayoutVars>
          <dgm:chMax val="0"/>
          <dgm:bulletEnabled/>
        </dgm:presLayoutVars>
      </dgm:prSet>
      <dgm:spPr/>
    </dgm:pt>
    <dgm:pt modelId="{7A652E23-3AFA-4580-9B0F-C8656EF1FB65}" type="pres">
      <dgm:prSet presAssocID="{77ADCA8B-6558-4616-A18A-6176483B1874}" presName="textRect" presStyleLbl="revTx" presStyleIdx="1" presStyleCnt="6">
        <dgm:presLayoutVars>
          <dgm:bulletEnabled/>
        </dgm:presLayoutVars>
      </dgm:prSet>
      <dgm:spPr/>
    </dgm:pt>
    <dgm:pt modelId="{EB3A58C3-ED1A-4D9F-A7B6-3F31AF50CEA7}" type="pres">
      <dgm:prSet presAssocID="{9865A5E6-12B4-4886-84DF-8336269FE9D4}" presName="sibTrans" presStyleLbl="sibTrans2D1" presStyleIdx="0" presStyleCnt="0"/>
      <dgm:spPr/>
    </dgm:pt>
    <dgm:pt modelId="{323EB6CF-EC4B-408F-8F4F-47F28621F253}" type="pres">
      <dgm:prSet presAssocID="{7E0C9005-03B2-4801-A98E-98C3BAC6275E}" presName="compNode" presStyleCnt="0"/>
      <dgm:spPr/>
    </dgm:pt>
    <dgm:pt modelId="{1B52891C-8E6D-4926-BD33-94475E604537}" type="pres">
      <dgm:prSet presAssocID="{7E0C9005-03B2-4801-A98E-98C3BAC6275E}" presName="pictRect" presStyleLbl="revTx" presStyleIdx="2" presStyleCnt="6">
        <dgm:presLayoutVars>
          <dgm:chMax val="0"/>
          <dgm:bulletEnabled/>
        </dgm:presLayoutVars>
      </dgm:prSet>
      <dgm:spPr/>
    </dgm:pt>
    <dgm:pt modelId="{4E21193C-B4F7-41F9-988F-ACB9A1B2B183}" type="pres">
      <dgm:prSet presAssocID="{7E0C9005-03B2-4801-A98E-98C3BAC6275E}" presName="textRect" presStyleLbl="revTx" presStyleIdx="3" presStyleCnt="6">
        <dgm:presLayoutVars>
          <dgm:bulletEnabled/>
        </dgm:presLayoutVars>
      </dgm:prSet>
      <dgm:spPr/>
    </dgm:pt>
    <dgm:pt modelId="{A21E4934-A19F-4ABA-86C1-592BF5E7AEF5}" type="pres">
      <dgm:prSet presAssocID="{BC3BDE94-7F8F-4DD1-BF89-EECD768607B2}" presName="sibTrans" presStyleLbl="sibTrans2D1" presStyleIdx="0" presStyleCnt="0"/>
      <dgm:spPr/>
    </dgm:pt>
    <dgm:pt modelId="{BFBA658F-CF23-42AD-9516-A16A5D19BE88}" type="pres">
      <dgm:prSet presAssocID="{5607AEA1-FC03-476E-9121-A1BD851A258C}" presName="compNode" presStyleCnt="0"/>
      <dgm:spPr/>
    </dgm:pt>
    <dgm:pt modelId="{003A52DA-CA50-4847-8D0D-0CAD51A35759}" type="pres">
      <dgm:prSet presAssocID="{5607AEA1-FC03-476E-9121-A1BD851A258C}" presName="pictRect" presStyleLbl="revTx" presStyleIdx="4" presStyleCnt="6">
        <dgm:presLayoutVars>
          <dgm:chMax val="0"/>
          <dgm:bulletEnabled/>
        </dgm:presLayoutVars>
      </dgm:prSet>
      <dgm:spPr/>
    </dgm:pt>
    <dgm:pt modelId="{C175783D-60A2-4A4E-8DC4-22B7459997C8}" type="pres">
      <dgm:prSet presAssocID="{5607AEA1-FC03-476E-9121-A1BD851A258C}" presName="textRect" presStyleLbl="revTx" presStyleIdx="5" presStyleCnt="6">
        <dgm:presLayoutVars>
          <dgm:bulletEnabled/>
        </dgm:presLayoutVars>
      </dgm:prSet>
      <dgm:spPr/>
    </dgm:pt>
  </dgm:ptLst>
  <dgm:cxnLst>
    <dgm:cxn modelId="{2B2E8301-A2B1-4A11-9FAD-D7F317260054}" type="presOf" srcId="{BC3BDE94-7F8F-4DD1-BF89-EECD768607B2}" destId="{A21E4934-A19F-4ABA-86C1-592BF5E7AEF5}" srcOrd="0" destOrd="0" presId="urn:microsoft.com/office/officeart/2024/3/layout/hArchList1"/>
    <dgm:cxn modelId="{B9F95310-408C-4ABE-9154-356353C12175}" type="presOf" srcId="{FF1588E8-AF4D-4D9B-B4DC-649D428429B4}" destId="{4E21193C-B4F7-41F9-988F-ACB9A1B2B183}" srcOrd="0" destOrd="0" presId="urn:microsoft.com/office/officeart/2024/3/layout/hArchList1"/>
    <dgm:cxn modelId="{096E3B11-4427-4C6D-8A7C-090E9FA9DEF1}" srcId="{D3013D1B-DF88-472C-8A8F-4BC871F28983}" destId="{77ADCA8B-6558-4616-A18A-6176483B1874}" srcOrd="0" destOrd="0" parTransId="{61D67277-9584-40F5-A0B5-E568A39A9997}" sibTransId="{9865A5E6-12B4-4886-84DF-8336269FE9D4}"/>
    <dgm:cxn modelId="{74762814-E60D-43DF-B227-72D70472516D}" type="presOf" srcId="{E95874DC-5493-4539-863A-48668D95E024}" destId="{C175783D-60A2-4A4E-8DC4-22B7459997C8}" srcOrd="0" destOrd="0" presId="urn:microsoft.com/office/officeart/2024/3/layout/hArchList1"/>
    <dgm:cxn modelId="{6C5E3A15-9349-4987-B566-4C1A1589FC39}" type="presOf" srcId="{9865A5E6-12B4-4886-84DF-8336269FE9D4}" destId="{EB3A58C3-ED1A-4D9F-A7B6-3F31AF50CEA7}" srcOrd="0" destOrd="0" presId="urn:microsoft.com/office/officeart/2024/3/layout/hArchList1"/>
    <dgm:cxn modelId="{A79A9F20-C2AB-436C-9F99-90E04C5F4F00}" type="presOf" srcId="{77ADCA8B-6558-4616-A18A-6176483B1874}" destId="{1D6585A2-CD02-4110-AA7F-B1E8C872D517}" srcOrd="0" destOrd="0" presId="urn:microsoft.com/office/officeart/2024/3/layout/hArchList1"/>
    <dgm:cxn modelId="{BB14DB29-920E-4B41-8475-3AE74B012348}" srcId="{D3013D1B-DF88-472C-8A8F-4BC871F28983}" destId="{5607AEA1-FC03-476E-9121-A1BD851A258C}" srcOrd="2" destOrd="0" parTransId="{43230924-F632-44CC-B7CE-6D1C31EC70D8}" sibTransId="{FC880DCC-A782-4637-9403-BBFCA5F8DF4B}"/>
    <dgm:cxn modelId="{13ED142A-8791-4ABF-B412-339A45600F77}" type="presOf" srcId="{E1152792-7568-4D13-9D42-AAC97BEF2505}" destId="{7A652E23-3AFA-4580-9B0F-C8656EF1FB65}" srcOrd="0" destOrd="0" presId="urn:microsoft.com/office/officeart/2024/3/layout/hArchList1"/>
    <dgm:cxn modelId="{DF1D3734-5F2B-4E7B-AA33-700E23E870A3}" srcId="{77ADCA8B-6558-4616-A18A-6176483B1874}" destId="{E1152792-7568-4D13-9D42-AAC97BEF2505}" srcOrd="0" destOrd="0" parTransId="{03C9B191-291E-45F7-AC50-DCCF55B852F2}" sibTransId="{38EE40A1-D549-443D-BA86-EC65088EB077}"/>
    <dgm:cxn modelId="{052B9360-597E-4A29-9B41-B55679CBDFEF}" type="presOf" srcId="{5607AEA1-FC03-476E-9121-A1BD851A258C}" destId="{003A52DA-CA50-4847-8D0D-0CAD51A35759}" srcOrd="0" destOrd="0" presId="urn:microsoft.com/office/officeart/2024/3/layout/hArchList1"/>
    <dgm:cxn modelId="{8847EE83-A7DC-473E-90B2-22187850CAAE}" srcId="{7E0C9005-03B2-4801-A98E-98C3BAC6275E}" destId="{FF1588E8-AF4D-4D9B-B4DC-649D428429B4}" srcOrd="0" destOrd="0" parTransId="{ACC79437-A59C-4232-BA53-C80F6EDDB0A3}" sibTransId="{83D56D50-3ED0-4EFC-B7E2-56382205F93E}"/>
    <dgm:cxn modelId="{7D74CBA3-678B-4F4B-8C4E-6477B1885D35}" srcId="{5607AEA1-FC03-476E-9121-A1BD851A258C}" destId="{E95874DC-5493-4539-863A-48668D95E024}" srcOrd="0" destOrd="0" parTransId="{28F797B8-BF6F-4A26-BC7A-E32D14BA7573}" sibTransId="{C3201B78-4D4E-4753-82A8-566CF0605F5C}"/>
    <dgm:cxn modelId="{A9A5F3BA-CE99-4947-8DC2-B47F38E28F3A}" srcId="{D3013D1B-DF88-472C-8A8F-4BC871F28983}" destId="{7E0C9005-03B2-4801-A98E-98C3BAC6275E}" srcOrd="1" destOrd="0" parTransId="{87B0AB9E-4BE8-464D-A135-23BFE22BE802}" sibTransId="{BC3BDE94-7F8F-4DD1-BF89-EECD768607B2}"/>
    <dgm:cxn modelId="{6E391BC3-07AF-4713-9503-9588329C9B87}" type="presOf" srcId="{D3013D1B-DF88-472C-8A8F-4BC871F28983}" destId="{F7BCF029-39A5-45AA-BD51-A49D33CC4CDA}" srcOrd="0" destOrd="0" presId="urn:microsoft.com/office/officeart/2024/3/layout/hArchList1"/>
    <dgm:cxn modelId="{E51120E8-612D-43E1-AA7A-895F902C5483}" type="presOf" srcId="{7E0C9005-03B2-4801-A98E-98C3BAC6275E}" destId="{1B52891C-8E6D-4926-BD33-94475E604537}" srcOrd="0" destOrd="0" presId="urn:microsoft.com/office/officeart/2024/3/layout/hArchList1"/>
    <dgm:cxn modelId="{7D006B34-FF98-4DC3-A76F-9A2F2F150ED9}" type="presParOf" srcId="{F7BCF029-39A5-45AA-BD51-A49D33CC4CDA}" destId="{55FDF973-06DB-4758-8A1F-9ED66005ABEA}" srcOrd="0" destOrd="0" presId="urn:microsoft.com/office/officeart/2024/3/layout/hArchList1"/>
    <dgm:cxn modelId="{B4206387-B77E-402F-B306-01DDCEDD0E32}" type="presParOf" srcId="{55FDF973-06DB-4758-8A1F-9ED66005ABEA}" destId="{1D6585A2-CD02-4110-AA7F-B1E8C872D517}" srcOrd="0" destOrd="0" presId="urn:microsoft.com/office/officeart/2024/3/layout/hArchList1"/>
    <dgm:cxn modelId="{09A0AB51-B49D-4DB5-9CC9-70DBBDB63716}" type="presParOf" srcId="{55FDF973-06DB-4758-8A1F-9ED66005ABEA}" destId="{7A652E23-3AFA-4580-9B0F-C8656EF1FB65}" srcOrd="1" destOrd="0" presId="urn:microsoft.com/office/officeart/2024/3/layout/hArchList1"/>
    <dgm:cxn modelId="{A08AEA5E-65D8-4F44-8606-9821746C41C8}" type="presParOf" srcId="{F7BCF029-39A5-45AA-BD51-A49D33CC4CDA}" destId="{EB3A58C3-ED1A-4D9F-A7B6-3F31AF50CEA7}" srcOrd="1" destOrd="0" presId="urn:microsoft.com/office/officeart/2024/3/layout/hArchList1"/>
    <dgm:cxn modelId="{55850D73-D899-40A2-ADE8-467084AD0AC3}" type="presParOf" srcId="{F7BCF029-39A5-45AA-BD51-A49D33CC4CDA}" destId="{323EB6CF-EC4B-408F-8F4F-47F28621F253}" srcOrd="2" destOrd="0" presId="urn:microsoft.com/office/officeart/2024/3/layout/hArchList1"/>
    <dgm:cxn modelId="{4366698F-D0A7-43B1-BEE5-717FFD749C82}" type="presParOf" srcId="{323EB6CF-EC4B-408F-8F4F-47F28621F253}" destId="{1B52891C-8E6D-4926-BD33-94475E604537}" srcOrd="0" destOrd="0" presId="urn:microsoft.com/office/officeart/2024/3/layout/hArchList1"/>
    <dgm:cxn modelId="{11E317D5-6359-46CF-BEEF-FC9C7E04CD26}" type="presParOf" srcId="{323EB6CF-EC4B-408F-8F4F-47F28621F253}" destId="{4E21193C-B4F7-41F9-988F-ACB9A1B2B183}" srcOrd="1" destOrd="0" presId="urn:microsoft.com/office/officeart/2024/3/layout/hArchList1"/>
    <dgm:cxn modelId="{E2769D09-9384-4C2D-9D52-E17FD563B2AD}" type="presParOf" srcId="{F7BCF029-39A5-45AA-BD51-A49D33CC4CDA}" destId="{A21E4934-A19F-4ABA-86C1-592BF5E7AEF5}" srcOrd="3" destOrd="0" presId="urn:microsoft.com/office/officeart/2024/3/layout/hArchList1"/>
    <dgm:cxn modelId="{B1C57672-8913-464B-904B-CE84306ED6B5}" type="presParOf" srcId="{F7BCF029-39A5-45AA-BD51-A49D33CC4CDA}" destId="{BFBA658F-CF23-42AD-9516-A16A5D19BE88}" srcOrd="4" destOrd="0" presId="urn:microsoft.com/office/officeart/2024/3/layout/hArchList1"/>
    <dgm:cxn modelId="{602262A0-4134-4469-B375-606F40A93FD2}" type="presParOf" srcId="{BFBA658F-CF23-42AD-9516-A16A5D19BE88}" destId="{003A52DA-CA50-4847-8D0D-0CAD51A35759}" srcOrd="0" destOrd="0" presId="urn:microsoft.com/office/officeart/2024/3/layout/hArchList1"/>
    <dgm:cxn modelId="{FFD8AF09-F9BD-478E-8058-613B1B1F3613}" type="presParOf" srcId="{BFBA658F-CF23-42AD-9516-A16A5D19BE88}" destId="{C175783D-60A2-4A4E-8DC4-22B7459997C8}" srcOrd="1" destOrd="0" presId="urn:microsoft.com/office/officeart/2024/3/layout/hArc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585A2-CD02-4110-AA7F-B1E8C872D517}">
      <dsp:nvSpPr>
        <dsp:cNvPr id="0" name=""/>
        <dsp:cNvSpPr/>
      </dsp:nvSpPr>
      <dsp:spPr>
        <a:xfrm>
          <a:off x="0" y="0"/>
          <a:ext cx="3286124" cy="36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Contexte</a:t>
          </a:r>
          <a:r>
            <a:rPr lang="en-US" sz="1800" kern="1200" dirty="0"/>
            <a:t>​</a:t>
          </a:r>
        </a:p>
      </dsp:txBody>
      <dsp:txXfrm>
        <a:off x="0" y="0"/>
        <a:ext cx="3286124" cy="369728"/>
      </dsp:txXfrm>
    </dsp:sp>
    <dsp:sp modelId="{7A652E23-3AFA-4580-9B0F-C8656EF1FB65}">
      <dsp:nvSpPr>
        <dsp:cNvPr id="0" name=""/>
        <dsp:cNvSpPr/>
      </dsp:nvSpPr>
      <dsp:spPr>
        <a:xfrm>
          <a:off x="0" y="369728"/>
          <a:ext cx="3286124" cy="3327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Le </a:t>
          </a:r>
          <a:r>
            <a:rPr lang="en-US" sz="1400" kern="1200" dirty="0" err="1"/>
            <a:t>projet</a:t>
          </a:r>
          <a:r>
            <a:rPr lang="en-US" sz="1400" kern="1200" dirty="0"/>
            <a:t> </a:t>
          </a:r>
          <a:r>
            <a:rPr lang="en-US" sz="1400" kern="1200" dirty="0" err="1"/>
            <a:t>consiste</a:t>
          </a:r>
          <a:r>
            <a:rPr lang="en-US" sz="1400" kern="1200" dirty="0"/>
            <a:t> à faire </a:t>
          </a:r>
          <a:r>
            <a:rPr lang="en-US" sz="1400" kern="1200" dirty="0" err="1"/>
            <a:t>une</a:t>
          </a:r>
          <a:r>
            <a:rPr lang="en-US" sz="1400" kern="1200" dirty="0"/>
            <a:t> </a:t>
          </a:r>
          <a:r>
            <a:rPr lang="en-US" sz="1400" kern="1200" dirty="0" err="1"/>
            <a:t>analyse</a:t>
          </a:r>
          <a:r>
            <a:rPr lang="en-US" sz="1400" kern="1200" dirty="0"/>
            <a:t> de </a:t>
          </a:r>
          <a:r>
            <a:rPr lang="fr-FR" sz="1400" kern="1200" dirty="0"/>
            <a:t>la performance de</a:t>
          </a:r>
          <a:r>
            <a:rPr lang="en-US" sz="1400" kern="1200" dirty="0"/>
            <a:t> « </a:t>
          </a:r>
          <a:r>
            <a:rPr lang="en-US" sz="1400" kern="1200" dirty="0" err="1"/>
            <a:t>TheLook</a:t>
          </a:r>
          <a:r>
            <a:rPr lang="en-US" sz="1400" kern="1200" dirty="0"/>
            <a:t> Europe », </a:t>
          </a:r>
          <a:r>
            <a:rPr lang="fr-FR" sz="1400" kern="1200" dirty="0"/>
            <a:t>sur un périmètre précis et de comparer l’année 2024 à l’année 2023.</a:t>
          </a:r>
        </a:p>
      </dsp:txBody>
      <dsp:txXfrm>
        <a:off x="0" y="369728"/>
        <a:ext cx="3286124" cy="3327559"/>
      </dsp:txXfrm>
    </dsp:sp>
    <dsp:sp modelId="{1B52891C-8E6D-4926-BD33-94475E604537}">
      <dsp:nvSpPr>
        <dsp:cNvPr id="0" name=""/>
        <dsp:cNvSpPr/>
      </dsp:nvSpPr>
      <dsp:spPr>
        <a:xfrm>
          <a:off x="3614737" y="0"/>
          <a:ext cx="3286124" cy="36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Objectifs</a:t>
          </a:r>
          <a:r>
            <a:rPr lang="en-US" sz="1800" kern="1200" dirty="0"/>
            <a:t> </a:t>
          </a:r>
        </a:p>
      </dsp:txBody>
      <dsp:txXfrm>
        <a:off x="3614737" y="0"/>
        <a:ext cx="3286124" cy="369728"/>
      </dsp:txXfrm>
    </dsp:sp>
    <dsp:sp modelId="{4E21193C-B4F7-41F9-988F-ACB9A1B2B183}">
      <dsp:nvSpPr>
        <dsp:cNvPr id="0" name=""/>
        <dsp:cNvSpPr/>
      </dsp:nvSpPr>
      <dsp:spPr>
        <a:xfrm>
          <a:off x="3614737" y="369728"/>
          <a:ext cx="3286124" cy="3327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dirty="0"/>
            <a:t>Comprendre les dynamiques de :</a:t>
          </a:r>
        </a:p>
        <a:p>
          <a:pPr marL="0" lvl="0" indent="0" algn="l" defTabSz="622300">
            <a:lnSpc>
              <a:spcPct val="100000"/>
            </a:lnSpc>
            <a:spcBef>
              <a:spcPct val="0"/>
            </a:spcBef>
            <a:spcAft>
              <a:spcPct val="35000"/>
            </a:spcAft>
            <a:buNone/>
          </a:pPr>
          <a:r>
            <a:rPr lang="fr-FR" sz="1400" kern="1200" dirty="0"/>
            <a:t>- Chiffre d’affaires</a:t>
          </a:r>
        </a:p>
        <a:p>
          <a:pPr marL="0" lvl="0" indent="0" algn="l" defTabSz="622300">
            <a:lnSpc>
              <a:spcPct val="100000"/>
            </a:lnSpc>
            <a:spcBef>
              <a:spcPct val="0"/>
            </a:spcBef>
            <a:spcAft>
              <a:spcPct val="35000"/>
            </a:spcAft>
            <a:buNone/>
          </a:pPr>
          <a:r>
            <a:rPr lang="fr-FR" sz="1400" kern="1200" dirty="0"/>
            <a:t>- Marge</a:t>
          </a:r>
        </a:p>
        <a:p>
          <a:pPr marL="0" lvl="0" indent="0" algn="l" defTabSz="622300">
            <a:lnSpc>
              <a:spcPct val="100000"/>
            </a:lnSpc>
            <a:spcBef>
              <a:spcPct val="0"/>
            </a:spcBef>
            <a:spcAft>
              <a:spcPct val="35000"/>
            </a:spcAft>
            <a:buNone/>
          </a:pPr>
          <a:r>
            <a:rPr lang="fr-FR" sz="1400" kern="1200" dirty="0"/>
            <a:t>- Panier Moyen</a:t>
          </a:r>
        </a:p>
        <a:p>
          <a:pPr marL="0" lvl="0" indent="0" algn="l" defTabSz="622300">
            <a:lnSpc>
              <a:spcPct val="100000"/>
            </a:lnSpc>
            <a:spcBef>
              <a:spcPct val="0"/>
            </a:spcBef>
            <a:spcAft>
              <a:spcPct val="35000"/>
            </a:spcAft>
            <a:buNone/>
          </a:pPr>
          <a:r>
            <a:rPr lang="fr-FR" sz="1400" kern="1200" dirty="0"/>
            <a:t>- Taux de  retours </a:t>
          </a:r>
        </a:p>
        <a:p>
          <a:pPr marL="0" lvl="0" indent="0" algn="l" defTabSz="622300">
            <a:lnSpc>
              <a:spcPct val="100000"/>
            </a:lnSpc>
            <a:spcBef>
              <a:spcPct val="0"/>
            </a:spcBef>
            <a:spcAft>
              <a:spcPct val="35000"/>
            </a:spcAft>
            <a:buNone/>
          </a:pPr>
          <a:r>
            <a:rPr lang="fr-FR" sz="1400" kern="1200" dirty="0"/>
            <a:t>- Taux de réachat </a:t>
          </a:r>
        </a:p>
        <a:p>
          <a:pPr marL="0" lvl="0" indent="0" algn="l" defTabSz="622300">
            <a:lnSpc>
              <a:spcPct val="100000"/>
            </a:lnSpc>
            <a:spcBef>
              <a:spcPct val="0"/>
            </a:spcBef>
            <a:spcAft>
              <a:spcPct val="35000"/>
            </a:spcAft>
            <a:buNone/>
          </a:pPr>
          <a:r>
            <a:rPr lang="fr-FR" sz="1400" kern="1200" dirty="0"/>
            <a:t>puis restituer des enseignements clairs via un tableau de bord Power BI.</a:t>
          </a:r>
          <a:endParaRPr lang="en-US" sz="1400" kern="1200" dirty="0"/>
        </a:p>
      </dsp:txBody>
      <dsp:txXfrm>
        <a:off x="3614737" y="369728"/>
        <a:ext cx="3286124" cy="3327559"/>
      </dsp:txXfrm>
    </dsp:sp>
    <dsp:sp modelId="{003A52DA-CA50-4847-8D0D-0CAD51A35759}">
      <dsp:nvSpPr>
        <dsp:cNvPr id="0" name=""/>
        <dsp:cNvSpPr/>
      </dsp:nvSpPr>
      <dsp:spPr>
        <a:xfrm>
          <a:off x="7229474" y="0"/>
          <a:ext cx="3286124" cy="369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Outils</a:t>
          </a:r>
          <a:r>
            <a:rPr lang="en-US" sz="1800" kern="1200" dirty="0"/>
            <a:t>​</a:t>
          </a:r>
        </a:p>
      </dsp:txBody>
      <dsp:txXfrm>
        <a:off x="7229474" y="0"/>
        <a:ext cx="3286124" cy="369728"/>
      </dsp:txXfrm>
    </dsp:sp>
    <dsp:sp modelId="{C175783D-60A2-4A4E-8DC4-22B7459997C8}">
      <dsp:nvSpPr>
        <dsp:cNvPr id="0" name=""/>
        <dsp:cNvSpPr/>
      </dsp:nvSpPr>
      <dsp:spPr>
        <a:xfrm>
          <a:off x="7229474" y="369728"/>
          <a:ext cx="3286124" cy="3327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Font typeface="Arial" panose="020B0604020202020204" pitchFamily="34" charset="0"/>
            <a:buNone/>
          </a:pPr>
          <a:r>
            <a:rPr lang="en-US" sz="1400" b="1" kern="1200" dirty="0"/>
            <a:t>- SQL (Big Query): </a:t>
          </a:r>
          <a:r>
            <a:rPr lang="en-US" sz="1400" kern="1200" dirty="0" err="1"/>
            <a:t>création</a:t>
          </a:r>
          <a:r>
            <a:rPr lang="en-US" sz="1400" kern="1200" dirty="0"/>
            <a:t> </a:t>
          </a:r>
          <a:r>
            <a:rPr lang="en-US" sz="1400" kern="1200" dirty="0" err="1"/>
            <a:t>d’une</a:t>
          </a:r>
          <a:r>
            <a:rPr lang="en-US" sz="1400" kern="1200" dirty="0"/>
            <a:t> </a:t>
          </a:r>
          <a:r>
            <a:rPr lang="en-US" sz="1400" kern="1200" dirty="0" err="1"/>
            <a:t>requête</a:t>
          </a:r>
          <a:r>
            <a:rPr lang="en-US" sz="1400" kern="1200" dirty="0"/>
            <a:t> pour </a:t>
          </a:r>
          <a:r>
            <a:rPr lang="en-US" sz="1400" kern="1200" dirty="0" err="1"/>
            <a:t>extraire</a:t>
          </a:r>
          <a:r>
            <a:rPr lang="en-US" sz="1400" kern="1200" dirty="0"/>
            <a:t> </a:t>
          </a:r>
          <a:r>
            <a:rPr lang="en-US" sz="1400" i="1" kern="1200" dirty="0"/>
            <a:t>(</a:t>
          </a:r>
          <a:r>
            <a:rPr lang="en-US" sz="1400" i="1" kern="1200" dirty="0" err="1"/>
            <a:t>reconstituer</a:t>
          </a:r>
          <a:r>
            <a:rPr lang="en-US" sz="1400" i="1" kern="1200" dirty="0"/>
            <a:t>) </a:t>
          </a:r>
          <a:r>
            <a:rPr lang="en-US" sz="1400" i="0" kern="1200" dirty="0"/>
            <a:t>les données à </a:t>
          </a:r>
          <a:r>
            <a:rPr lang="en-US" sz="1400" i="0" kern="1200" dirty="0" err="1"/>
            <a:t>analyser</a:t>
          </a:r>
          <a:r>
            <a:rPr lang="en-US" sz="1400" i="0" kern="1200" dirty="0"/>
            <a:t>, et </a:t>
          </a:r>
          <a:r>
            <a:rPr lang="en-US" sz="1400" i="0" kern="1200" dirty="0" err="1"/>
            <a:t>également</a:t>
          </a:r>
          <a:r>
            <a:rPr lang="en-US" sz="1400" i="0" kern="1200" dirty="0"/>
            <a:t> de </a:t>
          </a:r>
          <a:r>
            <a:rPr lang="en-US" sz="1400" i="0" kern="1200" dirty="0" err="1"/>
            <a:t>requêtes</a:t>
          </a:r>
          <a:r>
            <a:rPr lang="en-US" sz="1400" i="0" kern="1200" dirty="0"/>
            <a:t> pour </a:t>
          </a:r>
          <a:r>
            <a:rPr lang="en-US" sz="1400" i="0" kern="1200" dirty="0" err="1"/>
            <a:t>calculer</a:t>
          </a:r>
          <a:r>
            <a:rPr lang="en-US" sz="1400" i="0" kern="1200" dirty="0"/>
            <a:t> les KPIs</a:t>
          </a:r>
        </a:p>
        <a:p>
          <a:pPr marL="0" lvl="0" indent="0" algn="l" defTabSz="622300">
            <a:lnSpc>
              <a:spcPct val="100000"/>
            </a:lnSpc>
            <a:spcBef>
              <a:spcPct val="0"/>
            </a:spcBef>
            <a:spcAft>
              <a:spcPct val="35000"/>
            </a:spcAft>
            <a:buFont typeface="Arial" panose="020B0604020202020204" pitchFamily="34" charset="0"/>
            <a:buNone/>
          </a:pPr>
          <a:r>
            <a:rPr lang="en-US" sz="1400" b="1" i="0" kern="1200" dirty="0"/>
            <a:t>- VS Code : </a:t>
          </a:r>
          <a:r>
            <a:rPr lang="en-US" sz="1400" i="0" kern="1200" dirty="0" err="1"/>
            <a:t>nettoyage</a:t>
          </a:r>
          <a:r>
            <a:rPr lang="en-US" sz="1400" i="0" kern="1200" dirty="0"/>
            <a:t> des données, </a:t>
          </a:r>
          <a:r>
            <a:rPr lang="en-US" sz="1400" i="0" kern="1200" dirty="0" err="1"/>
            <a:t>création</a:t>
          </a:r>
          <a:r>
            <a:rPr lang="en-US" sz="1400" i="0" kern="1200" dirty="0"/>
            <a:t> des KPIs, visualization</a:t>
          </a:r>
        </a:p>
        <a:p>
          <a:pPr marL="0" lvl="0" indent="0" algn="l" defTabSz="622300">
            <a:lnSpc>
              <a:spcPct val="100000"/>
            </a:lnSpc>
            <a:spcBef>
              <a:spcPct val="0"/>
            </a:spcBef>
            <a:spcAft>
              <a:spcPct val="35000"/>
            </a:spcAft>
            <a:buFont typeface="Arial" panose="020B0604020202020204" pitchFamily="34" charset="0"/>
            <a:buNone/>
          </a:pPr>
          <a:r>
            <a:rPr lang="en-US" sz="1400" i="0" kern="1200" dirty="0"/>
            <a:t>Les KPIs </a:t>
          </a:r>
          <a:r>
            <a:rPr lang="en-US" sz="1400" i="0" kern="1200" dirty="0" err="1"/>
            <a:t>seront</a:t>
          </a:r>
          <a:r>
            <a:rPr lang="en-US" sz="1400" i="0" kern="1200" dirty="0"/>
            <a:t> </a:t>
          </a:r>
          <a:r>
            <a:rPr lang="en-US" sz="1400" i="0" kern="1200" dirty="0" err="1"/>
            <a:t>testés</a:t>
          </a:r>
          <a:r>
            <a:rPr lang="en-US" sz="1400" i="0" kern="1200" dirty="0"/>
            <a:t> dans VS Code </a:t>
          </a:r>
          <a:r>
            <a:rPr lang="en-US" sz="1400" i="0" kern="1200" dirty="0" err="1"/>
            <a:t>mais</a:t>
          </a:r>
          <a:r>
            <a:rPr lang="en-US" sz="1400" i="0" kern="1200" dirty="0"/>
            <a:t> </a:t>
          </a:r>
          <a:r>
            <a:rPr lang="en-US" sz="1400" i="0" kern="1200" dirty="0" err="1"/>
            <a:t>aussi</a:t>
          </a:r>
          <a:r>
            <a:rPr lang="en-US" sz="1400" i="0" kern="1200" dirty="0"/>
            <a:t> </a:t>
          </a:r>
          <a:r>
            <a:rPr lang="en-US" sz="1400" i="0" kern="1200" dirty="0" err="1"/>
            <a:t>comparés</a:t>
          </a:r>
          <a:r>
            <a:rPr lang="en-US" sz="1400" i="0" kern="1200" dirty="0"/>
            <a:t> avec les </a:t>
          </a:r>
          <a:r>
            <a:rPr lang="en-US" sz="1400" i="0" kern="1200" dirty="0" err="1"/>
            <a:t>résultats</a:t>
          </a:r>
          <a:r>
            <a:rPr lang="en-US" sz="1400" i="0" kern="1200" dirty="0"/>
            <a:t> </a:t>
          </a:r>
          <a:r>
            <a:rPr lang="en-US" sz="1400" i="0" kern="1200" dirty="0" err="1"/>
            <a:t>obtenus</a:t>
          </a:r>
          <a:r>
            <a:rPr lang="en-US" sz="1400" i="0" kern="1200" dirty="0"/>
            <a:t> dans SQL / Power BI</a:t>
          </a:r>
        </a:p>
        <a:p>
          <a:pPr marL="0" lvl="0" indent="0" algn="l" defTabSz="622300">
            <a:lnSpc>
              <a:spcPct val="100000"/>
            </a:lnSpc>
            <a:spcBef>
              <a:spcPct val="0"/>
            </a:spcBef>
            <a:spcAft>
              <a:spcPct val="35000"/>
            </a:spcAft>
            <a:buFont typeface="Arial" panose="020B0604020202020204" pitchFamily="34" charset="0"/>
            <a:buNone/>
          </a:pPr>
          <a:r>
            <a:rPr lang="en-US" sz="1400" b="1" i="0" kern="1200" dirty="0"/>
            <a:t>- Power BI : </a:t>
          </a:r>
          <a:r>
            <a:rPr lang="en-US" sz="1400" b="1" i="0" kern="1200" dirty="0" err="1"/>
            <a:t>Outil</a:t>
          </a:r>
          <a:r>
            <a:rPr lang="en-US" sz="1400" b="1" i="0" kern="1200" dirty="0"/>
            <a:t> de </a:t>
          </a:r>
          <a:r>
            <a:rPr lang="en-US" sz="1400" b="1" i="0" kern="1200" dirty="0" err="1"/>
            <a:t>l’utilisateur</a:t>
          </a:r>
          <a:r>
            <a:rPr lang="en-US" sz="1400" b="1" i="0" kern="1200" dirty="0"/>
            <a:t> final. </a:t>
          </a:r>
          <a:r>
            <a:rPr lang="en-US" sz="1400" b="0" i="0" kern="1200" dirty="0"/>
            <a:t>Les KPIs / </a:t>
          </a:r>
          <a:r>
            <a:rPr lang="en-US" sz="1400" b="0" i="0" kern="1200" dirty="0" err="1"/>
            <a:t>visuels</a:t>
          </a:r>
          <a:r>
            <a:rPr lang="en-US" sz="1400" b="0" i="0" kern="1200" dirty="0"/>
            <a:t> </a:t>
          </a:r>
          <a:r>
            <a:rPr lang="en-US" sz="1400" b="0" i="0" kern="1200" dirty="0" err="1"/>
            <a:t>seront</a:t>
          </a:r>
          <a:r>
            <a:rPr lang="en-US" sz="1400" b="0" i="0" kern="1200" dirty="0"/>
            <a:t> compares avec </a:t>
          </a:r>
          <a:r>
            <a:rPr lang="en-US" sz="1400" b="0" i="0" kern="1200" dirty="0" err="1"/>
            <a:t>ceux</a:t>
          </a:r>
          <a:r>
            <a:rPr lang="en-US" sz="1400" b="0" i="0" kern="1200" dirty="0"/>
            <a:t> </a:t>
          </a:r>
          <a:r>
            <a:rPr lang="en-US" sz="1400" b="0" i="0" kern="1200" dirty="0" err="1"/>
            <a:t>obtenus</a:t>
          </a:r>
          <a:r>
            <a:rPr lang="en-US" sz="1400" b="0" i="0" kern="1200" dirty="0"/>
            <a:t> dans VS Code.</a:t>
          </a:r>
        </a:p>
      </dsp:txBody>
      <dsp:txXfrm>
        <a:off x="7229474" y="369728"/>
        <a:ext cx="3286124" cy="3327559"/>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2/9/2026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‹N°›</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‹N°›</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‹N°›</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‹N°›</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a:p>
            <a:pPr lvl="1"/>
            <a:r>
              <a:rPr lang="fr-FR"/>
              <a:t>Deuxième niveau</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fr-FR"/>
              <a:t>Cliquez pour modifier les styles du texte du masque</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eux contenus">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fr-FR"/>
              <a:t>Cliquez pour modifier les styles du texte du masque</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fr-FR"/>
              <a:t>Cliquez sur l'icône pour ajouter un graphique</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‹N°›</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fr-FR"/>
              <a:t>Cliquez sur l'icône pour ajouter une image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fr-FR"/>
              <a:t>Cliquez sur l'icône pour ajouter une image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fr-FR"/>
              <a:t>Cliquez sur l'icône pour ajouter une image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fr-FR"/>
              <a:t>Cliquez sur l'icône pour ajouter une image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fr-FR"/>
              <a:t>Cliquez sur l'icône pour ajouter une image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fr-FR"/>
              <a:t>Cliquez sur l'icône pour ajouter une image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fr-FR"/>
              <a:t>Cliquez sur l'icône pour ajouter une image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‹N°›</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fr-FR"/>
              <a:t>Cliquez pour modifier les styles du texte du masque</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fr-FR"/>
              <a:t>Cliquez pour modifier les styles du texte du masque</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fr-FR"/>
              <a:t>Cliquez pour modifier les styles du texte du masque</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fr-FR"/>
              <a:t>Cliquez pour modifier les styles du texte du masque</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‹N°›</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‹N°›</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 Id="rId5" Type="http://schemas.openxmlformats.org/officeDocument/2006/relationships/chart" Target="../charts/chart5.xml"/><Relationship Id="rId4"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572000" y="4434840"/>
            <a:ext cx="6785811" cy="1122202"/>
          </a:xfrm>
        </p:spPr>
        <p:txBody>
          <a:bodyPr/>
          <a:lstStyle/>
          <a:p>
            <a:r>
              <a:rPr lang="en-US" dirty="0"/>
              <a:t>EDA – </a:t>
            </a:r>
            <a:r>
              <a:rPr lang="en-US" dirty="0" err="1"/>
              <a:t>Projet</a:t>
            </a:r>
            <a:r>
              <a:rPr lang="en-US" dirty="0"/>
              <a:t> final</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t>Charlotte DOLIVEUX</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r>
              <a:rPr lang="en-US" dirty="0"/>
              <a:t>introduction</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US" dirty="0" err="1"/>
              <a:t>Méthodologie</a:t>
            </a:r>
            <a:endParaRPr lang="en-US" dirty="0"/>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US" dirty="0" err="1"/>
              <a:t>RéSULTAT</a:t>
            </a:r>
            <a:endParaRPr lang="en-US" dirty="0"/>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a:lstStyle/>
          <a:p>
            <a:r>
              <a:rPr lang="en-US" dirty="0" err="1"/>
              <a:t>déMONSTRATION</a:t>
            </a:r>
            <a:endParaRPr lang="en-US" dirty="0"/>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err="1"/>
              <a:t>Contexte</a:t>
            </a:r>
            <a:r>
              <a:rPr lang="en-US" dirty="0"/>
              <a:t>, </a:t>
            </a:r>
            <a:r>
              <a:rPr lang="en-US" dirty="0" err="1"/>
              <a:t>Objectifs</a:t>
            </a:r>
            <a:r>
              <a:rPr lang="en-US" dirty="0"/>
              <a:t> du </a:t>
            </a:r>
            <a:r>
              <a:rPr lang="en-US" dirty="0" err="1"/>
              <a:t>projet</a:t>
            </a:r>
            <a:endParaRPr lang="en-US" dirty="0"/>
          </a:p>
          <a:p>
            <a:endParaRPr lang="en-US" dirty="0"/>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err="1"/>
              <a:t>Approche</a:t>
            </a:r>
            <a:r>
              <a:rPr lang="en-US" dirty="0"/>
              <a:t>, </a:t>
            </a:r>
            <a:r>
              <a:rPr lang="en-US" dirty="0" err="1"/>
              <a:t>présentation</a:t>
            </a:r>
            <a:r>
              <a:rPr lang="en-US" dirty="0"/>
              <a:t> des </a:t>
            </a:r>
            <a:r>
              <a:rPr lang="en-US" dirty="0" err="1"/>
              <a:t>problématiques</a:t>
            </a:r>
            <a:r>
              <a:rPr lang="en-US" dirty="0"/>
              <a:t> </a:t>
            </a:r>
            <a:r>
              <a:rPr lang="en-US" dirty="0" err="1"/>
              <a:t>rencontrées</a:t>
            </a:r>
            <a:r>
              <a:rPr lang="en-US" dirty="0"/>
              <a:t>, explication des options et </a:t>
            </a:r>
            <a:r>
              <a:rPr lang="en-US" dirty="0" err="1"/>
              <a:t>décisions</a:t>
            </a:r>
            <a:endParaRPr lang="en-US" dirty="0"/>
          </a:p>
          <a:p>
            <a:endParaRPr lang="en-US" dirty="0"/>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err="1"/>
              <a:t>Présentation</a:t>
            </a:r>
            <a:r>
              <a:rPr lang="en-US" dirty="0"/>
              <a:t> des </a:t>
            </a:r>
            <a:r>
              <a:rPr lang="en-US" dirty="0" err="1"/>
              <a:t>outils</a:t>
            </a:r>
            <a:r>
              <a:rPr lang="en-US" dirty="0"/>
              <a:t> mis à disposition et de </a:t>
            </a:r>
            <a:r>
              <a:rPr lang="en-US" dirty="0" err="1"/>
              <a:t>leur</a:t>
            </a:r>
            <a:r>
              <a:rPr lang="en-US" dirty="0"/>
              <a:t> </a:t>
            </a:r>
            <a:r>
              <a:rPr lang="en-US" dirty="0" err="1"/>
              <a:t>utilisation</a:t>
            </a:r>
            <a:endParaRPr lang="en-US" dirty="0"/>
          </a:p>
          <a:p>
            <a:endParaRPr lang="en-US"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dirty="0" err="1"/>
              <a:t>Démonstration</a:t>
            </a:r>
            <a:r>
              <a:rPr lang="en-US" dirty="0"/>
              <a:t> live du Dashboard Power BI</a:t>
            </a:r>
          </a:p>
          <a:p>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2</a:t>
            </a:fld>
            <a:endParaRPr lang="en-US" dirty="0"/>
          </a:p>
        </p:txBody>
      </p:sp>
      <p:sp>
        <p:nvSpPr>
          <p:cNvPr id="16" name="Titre 1">
            <a:extLst>
              <a:ext uri="{FF2B5EF4-FFF2-40B4-BE49-F238E27FC236}">
                <a16:creationId xmlns:a16="http://schemas.microsoft.com/office/drawing/2014/main" id="{CFCB72BC-1CC5-DA90-1AE8-A4CA26815221}"/>
              </a:ext>
            </a:extLst>
          </p:cNvPr>
          <p:cNvSpPr>
            <a:spLocks noGrp="1"/>
          </p:cNvSpPr>
          <p:nvPr>
            <p:ph type="title"/>
          </p:nvPr>
        </p:nvSpPr>
        <p:spPr>
          <a:xfrm>
            <a:off x="838200" y="365125"/>
            <a:ext cx="10515600" cy="1325563"/>
          </a:xfrm>
        </p:spPr>
        <p:txBody>
          <a:bodyPr/>
          <a:lstStyle/>
          <a:p>
            <a:pPr algn="ctr"/>
            <a:r>
              <a:rPr lang="en-US" dirty="0"/>
              <a:t>agenda</a:t>
            </a:r>
          </a:p>
        </p:txBody>
      </p:sp>
    </p:spTree>
    <p:extLst>
      <p:ext uri="{BB962C8B-B14F-4D97-AF65-F5344CB8AC3E}">
        <p14:creationId xmlns:p14="http://schemas.microsoft.com/office/powerpoint/2010/main" val="1738561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A0332C-AAD8-F8C8-7F87-7CCD482D76DC}"/>
              </a:ext>
            </a:extLst>
          </p:cNvPr>
          <p:cNvSpPr>
            <a:spLocks noGrp="1"/>
          </p:cNvSpPr>
          <p:nvPr>
            <p:ph type="title"/>
          </p:nvPr>
        </p:nvSpPr>
        <p:spPr>
          <a:xfrm>
            <a:off x="838200" y="365125"/>
            <a:ext cx="10515600" cy="1325563"/>
          </a:xfrm>
        </p:spPr>
        <p:txBody>
          <a:bodyPr anchor="ctr">
            <a:normAutofit/>
          </a:bodyPr>
          <a:lstStyle/>
          <a:p>
            <a:r>
              <a:rPr lang="en-US" dirty="0"/>
              <a:t>INTRODUCTION</a:t>
            </a:r>
          </a:p>
        </p:txBody>
      </p:sp>
      <p:sp>
        <p:nvSpPr>
          <p:cNvPr id="11" name="Espace réservé de la date 10">
            <a:extLst>
              <a:ext uri="{FF2B5EF4-FFF2-40B4-BE49-F238E27FC236}">
                <a16:creationId xmlns:a16="http://schemas.microsoft.com/office/drawing/2014/main" id="{E10826B3-E636-9E37-B280-93C438A01810}"/>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12" name="Espace réservé du pied de page 11">
            <a:extLst>
              <a:ext uri="{FF2B5EF4-FFF2-40B4-BE49-F238E27FC236}">
                <a16:creationId xmlns:a16="http://schemas.microsoft.com/office/drawing/2014/main" id="{35ECD1DD-C2BC-E268-3EF7-AF474A9690CD}"/>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13" name="Espace réservé du numéro de diapositive 12">
            <a:extLst>
              <a:ext uri="{FF2B5EF4-FFF2-40B4-BE49-F238E27FC236}">
                <a16:creationId xmlns:a16="http://schemas.microsoft.com/office/drawing/2014/main" id="{2658646C-1E06-5CDC-3704-FBD4AF35F345}"/>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3</a:t>
            </a:fld>
            <a:endParaRPr lang="en-US"/>
          </a:p>
        </p:txBody>
      </p:sp>
      <p:graphicFrame>
        <p:nvGraphicFramePr>
          <p:cNvPr id="17" name="Espace réservé du texte 2">
            <a:extLst>
              <a:ext uri="{FF2B5EF4-FFF2-40B4-BE49-F238E27FC236}">
                <a16:creationId xmlns:a16="http://schemas.microsoft.com/office/drawing/2014/main" id="{1FF09875-277D-AD5B-941D-A4369F3925A7}"/>
              </a:ext>
            </a:extLst>
          </p:cNvPr>
          <p:cNvGraphicFramePr>
            <a:graphicFrameLocks noGrp="1"/>
          </p:cNvGraphicFramePr>
          <p:nvPr>
            <p:ph sz="quarter" idx="16"/>
            <p:extLst>
              <p:ext uri="{D42A27DB-BD31-4B8C-83A1-F6EECF244321}">
                <p14:modId xmlns:p14="http://schemas.microsoft.com/office/powerpoint/2010/main" val="1116572708"/>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838199" y="2136775"/>
          <a:ext cx="10515599" cy="3697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3743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F6DB8-77B1-ADA4-B16D-FE7BBE04EBA4}"/>
              </a:ext>
            </a:extLst>
          </p:cNvPr>
          <p:cNvSpPr>
            <a:spLocks noGrp="1"/>
          </p:cNvSpPr>
          <p:nvPr>
            <p:ph type="title"/>
          </p:nvPr>
        </p:nvSpPr>
        <p:spPr/>
        <p:txBody>
          <a:bodyPr/>
          <a:lstStyle/>
          <a:p>
            <a:r>
              <a:rPr lang="en-US" dirty="0" err="1"/>
              <a:t>Méthodologie</a:t>
            </a:r>
            <a:endParaRPr lang="en-US" dirty="0"/>
          </a:p>
        </p:txBody>
      </p:sp>
      <p:sp>
        <p:nvSpPr>
          <p:cNvPr id="3" name="Espace réservé de la date 2">
            <a:extLst>
              <a:ext uri="{FF2B5EF4-FFF2-40B4-BE49-F238E27FC236}">
                <a16:creationId xmlns:a16="http://schemas.microsoft.com/office/drawing/2014/main" id="{84FB41E1-68AB-4C3E-A995-331B60795AE2}"/>
              </a:ext>
            </a:extLst>
          </p:cNvPr>
          <p:cNvSpPr>
            <a:spLocks noGrp="1"/>
          </p:cNvSpPr>
          <p:nvPr>
            <p:ph type="dt" sz="half" idx="10"/>
          </p:nvPr>
        </p:nvSpPr>
        <p:spPr/>
        <p:txBody>
          <a:bodyPr/>
          <a:lstStyle/>
          <a:p>
            <a:r>
              <a:rPr lang="en-US"/>
              <a:t>20XX</a:t>
            </a:r>
            <a:endParaRPr lang="en-US" dirty="0"/>
          </a:p>
        </p:txBody>
      </p:sp>
      <p:sp>
        <p:nvSpPr>
          <p:cNvPr id="4" name="Espace réservé du pied de page 3">
            <a:extLst>
              <a:ext uri="{FF2B5EF4-FFF2-40B4-BE49-F238E27FC236}">
                <a16:creationId xmlns:a16="http://schemas.microsoft.com/office/drawing/2014/main" id="{958AE2A0-87CD-6635-F70F-0A77B6B0C212}"/>
              </a:ext>
            </a:extLst>
          </p:cNvPr>
          <p:cNvSpPr>
            <a:spLocks noGrp="1"/>
          </p:cNvSpPr>
          <p:nvPr>
            <p:ph type="ftr" sz="quarter" idx="11"/>
          </p:nvPr>
        </p:nvSpPr>
        <p:spPr/>
        <p:txBody>
          <a:bodyPr/>
          <a:lstStyle/>
          <a:p>
            <a:r>
              <a:rPr lang="en-US"/>
              <a:t>Pitch Deck</a:t>
            </a:r>
            <a:endParaRPr lang="en-US" dirty="0"/>
          </a:p>
        </p:txBody>
      </p:sp>
      <p:sp>
        <p:nvSpPr>
          <p:cNvPr id="5" name="Espace réservé du numéro de diapositive 4">
            <a:extLst>
              <a:ext uri="{FF2B5EF4-FFF2-40B4-BE49-F238E27FC236}">
                <a16:creationId xmlns:a16="http://schemas.microsoft.com/office/drawing/2014/main" id="{F8E3580C-05DC-CD2D-4D91-7239065D9198}"/>
              </a:ext>
            </a:extLst>
          </p:cNvPr>
          <p:cNvSpPr>
            <a:spLocks noGrp="1"/>
          </p:cNvSpPr>
          <p:nvPr>
            <p:ph type="sldNum" sz="quarter" idx="12"/>
          </p:nvPr>
        </p:nvSpPr>
        <p:spPr/>
        <p:txBody>
          <a:bodyPr/>
          <a:lstStyle/>
          <a:p>
            <a:fld id="{B5CEABB6-07DC-46E8-9B57-56EC44A396E5}" type="slidenum">
              <a:rPr lang="en-US" smtClean="0"/>
              <a:t>4</a:t>
            </a:fld>
            <a:endParaRPr lang="en-US" dirty="0"/>
          </a:p>
        </p:txBody>
      </p:sp>
      <p:sp>
        <p:nvSpPr>
          <p:cNvPr id="6" name="Espace réservé du contenu 5">
            <a:extLst>
              <a:ext uri="{FF2B5EF4-FFF2-40B4-BE49-F238E27FC236}">
                <a16:creationId xmlns:a16="http://schemas.microsoft.com/office/drawing/2014/main" id="{7E6DE65D-B8E4-6359-FD77-9B96C1CF271C}"/>
              </a:ext>
            </a:extLst>
          </p:cNvPr>
          <p:cNvSpPr>
            <a:spLocks noGrp="1"/>
          </p:cNvSpPr>
          <p:nvPr>
            <p:ph sz="quarter" idx="16"/>
          </p:nvPr>
        </p:nvSpPr>
        <p:spPr/>
        <p:txBody>
          <a:bodyPr/>
          <a:lstStyle/>
          <a:p>
            <a:endParaRPr lang="en-US"/>
          </a:p>
        </p:txBody>
      </p:sp>
    </p:spTree>
    <p:extLst>
      <p:ext uri="{BB962C8B-B14F-4D97-AF65-F5344CB8AC3E}">
        <p14:creationId xmlns:p14="http://schemas.microsoft.com/office/powerpoint/2010/main" val="3697284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dirty="0"/>
              <a:t>SOLUTION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lnSpcReduction="10000"/>
          </a:bodyPr>
          <a:lstStyle/>
          <a:p>
            <a:r>
              <a:rPr lang="en-US" dirty="0"/>
              <a:t>CLOSE THE GAP</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a:lstStyle/>
          <a:p>
            <a:r>
              <a:rPr lang="en-US" dirty="0"/>
              <a:t>Our product makes consumer lives easier, and no other product on the market offers the same features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a:normAutofit lnSpcReduction="10000"/>
          </a:bodyPr>
          <a:lstStyle/>
          <a:p>
            <a:r>
              <a:rPr lang="en-US" dirty="0"/>
              <a:t>TARGET AUDIENCE</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a:lstStyle/>
          <a:p>
            <a:r>
              <a:rPr lang="en-US" dirty="0"/>
              <a:t>Our target audience is Gen Z (18-25 years old)</a:t>
            </a:r>
          </a:p>
          <a:p>
            <a:endParaRPr lang="en-US"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a:normAutofit lnSpcReduction="10000"/>
          </a:bodyPr>
          <a:lstStyle/>
          <a:p>
            <a:r>
              <a:rPr lang="en-US" dirty="0"/>
              <a:t>COST SAVINGS</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a:lstStyle/>
          <a:p>
            <a:r>
              <a:rPr lang="en-US" dirty="0"/>
              <a:t>Reduce expenses for replacement products </a:t>
            </a:r>
          </a:p>
          <a:p>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a:normAutofit lnSpcReduction="10000"/>
          </a:bodyPr>
          <a:lstStyle/>
          <a:p>
            <a:r>
              <a:rPr lang="en-US" dirty="0"/>
              <a:t>EASY TO USE</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a:lstStyle/>
          <a:p>
            <a:r>
              <a:rPr lang="en-US" dirty="0"/>
              <a:t>Simple design that gives customers the targeted information they need</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20XX</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US" dirty="0"/>
              <a:t>PRODUCT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r>
              <a:rPr lang="en-US" dirty="0"/>
              <a:t>UNIQUE</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21828" y="1860060"/>
            <a:ext cx="5431971" cy="557950"/>
          </a:xfrm>
        </p:spPr>
        <p:txBody>
          <a:bodyPr>
            <a:normAutofit/>
          </a:bodyPr>
          <a:lstStyle/>
          <a:p>
            <a:r>
              <a:rPr lang="en-US" dirty="0"/>
              <a:t>Only product specifically dedicated to this niche market</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a:normAutofit lnSpcReduction="10000"/>
          </a:bodyPr>
          <a:lstStyle/>
          <a:p>
            <a:r>
              <a:rPr lang="en-US" dirty="0"/>
              <a:t>FIRST TO MARKET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21828" y="2959856"/>
            <a:ext cx="5431971" cy="557950"/>
          </a:xfrm>
        </p:spPr>
        <p:txBody>
          <a:bodyPr/>
          <a:lstStyle/>
          <a:p>
            <a:r>
              <a:rPr lang="en-US" dirty="0"/>
              <a:t>First beautifully designed product that's both stylish and functional</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a:normAutofit lnSpcReduction="10000"/>
          </a:bodyPr>
          <a:lstStyle/>
          <a:p>
            <a:r>
              <a:rPr lang="en-US" dirty="0"/>
              <a:t>TESTED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2"/>
            <a:ext cx="5431971" cy="557950"/>
          </a:xfrm>
        </p:spPr>
        <p:txBody>
          <a:bodyPr/>
          <a:lstStyle/>
          <a:p>
            <a:r>
              <a:rPr lang="en-US" dirty="0"/>
              <a:t>Conducted testing with college students in the area</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920106" y="4830024"/>
            <a:ext cx="5433204" cy="365125"/>
          </a:xfrm>
        </p:spPr>
        <p:txBody>
          <a:bodyPr>
            <a:normAutofit lnSpcReduction="10000"/>
          </a:bodyPr>
          <a:lstStyle/>
          <a:p>
            <a:r>
              <a:rPr lang="en-US" dirty="0"/>
              <a:t>AUTHENTIC</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919680" y="5159449"/>
            <a:ext cx="5431971" cy="557950"/>
          </a:xfrm>
        </p:spPr>
        <p:txBody>
          <a:bodyPr/>
          <a:lstStyle/>
          <a:p>
            <a:r>
              <a:rPr lang="en-US" dirty="0"/>
              <a:t>Designed with the help and input of experts in the field </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84494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PRODUCT BENEFITS</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a:bodyPr>
          <a:lstStyle/>
          <a:p>
            <a:r>
              <a:rPr lang="en-US" dirty="0"/>
              <a:t>Cool and stylish product</a:t>
            </a:r>
          </a:p>
          <a:p>
            <a:r>
              <a:rPr lang="en-US" noProof="1"/>
              <a:t>Areas for community connections </a:t>
            </a:r>
          </a:p>
          <a:p>
            <a:r>
              <a:rPr lang="en-US" noProof="1"/>
              <a:t>Online store and market swap</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COMPANY OVERVIEW</a:t>
            </a:r>
          </a:p>
        </p:txBody>
      </p:sp>
    </p:spTree>
    <p:extLst>
      <p:ext uri="{BB962C8B-B14F-4D97-AF65-F5344CB8AC3E}">
        <p14:creationId xmlns:p14="http://schemas.microsoft.com/office/powerpoint/2010/main" val="70778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a:lstStyle/>
          <a:p>
            <a:r>
              <a:rPr lang="en-US" dirty="0"/>
              <a:t>BUSINESS MODEL</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r>
              <a:rPr lang="en-US"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a:normAutofit/>
          </a:bodyPr>
          <a:lstStyle/>
          <a:p>
            <a:r>
              <a:rPr lang="en-US"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r>
              <a:rPr lang="en-US"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a:normAutofit/>
          </a:bodyPr>
          <a:lstStyle/>
          <a:p>
            <a:r>
              <a:rPr lang="en-US"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r>
              <a:rPr lang="en-US"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a:normAutofit/>
          </a:bodyPr>
          <a:lstStyle/>
          <a:p>
            <a:r>
              <a:rPr lang="en-US"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9</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MARKET OVERVIEW</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$3 Billion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Freedom to invent</a:t>
            </a:r>
            <a:endParaRPr lang="en-US" dirty="0"/>
          </a:p>
          <a:p>
            <a:r>
              <a:rPr lang="en-US" noProof="1"/>
              <a:t>Selectively inclusive market</a:t>
            </a:r>
          </a:p>
          <a:p>
            <a:r>
              <a:rPr lang="en-US" noProof="1"/>
              <a:t>Serviceable available market</a:t>
            </a:r>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$1 Billion</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Opportunity to build</a:t>
            </a:r>
          </a:p>
          <a:p>
            <a:r>
              <a:rPr lang="en-US" dirty="0"/>
              <a:t>Fully inclusive market</a:t>
            </a:r>
          </a:p>
          <a:p>
            <a:r>
              <a:rPr lang="en-US" dirty="0"/>
              <a:t>Total addressable market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$2 Billion</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Few competitors</a:t>
            </a:r>
          </a:p>
          <a:p>
            <a:r>
              <a:rPr lang="en-US" noProof="1"/>
              <a:t>Specifically targeted market</a:t>
            </a:r>
          </a:p>
          <a:p>
            <a:r>
              <a:rPr lang="en-US" noProof="1"/>
              <a:t>Serviceable obtainable market</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a:lstStyle/>
          <a:p>
            <a:r>
              <a:rPr lang="en-US" dirty="0"/>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a:lstStyle/>
          <a:p>
            <a:r>
              <a:rPr lang="en-US" dirty="0"/>
              <a:t>Opportunity to build</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a:lstStyle/>
          <a:p>
            <a:r>
              <a:rPr lang="en-US" dirty="0"/>
              <a:t>Freedom to invent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a:lstStyle/>
          <a:p>
            <a:r>
              <a:rPr lang="en-US" dirty="0"/>
              <a:t>Few competitors</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a:lstStyle/>
          <a:p>
            <a:r>
              <a:rPr lang="en-US" dirty="0"/>
              <a:t>Addressable market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a:lstStyle/>
          <a:p>
            <a:r>
              <a:rPr lang="en-US" dirty="0"/>
              <a:t>Serviceable market</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a:lstStyle/>
          <a:p>
            <a:r>
              <a:rPr lang="en-US" dirty="0"/>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a:lstStyle/>
          <a:p>
            <a:r>
              <a:rPr lang="en-US" dirty="0"/>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404854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a:lstStyle/>
          <a:p>
            <a:r>
              <a:rPr lang="en-US" dirty="0"/>
              <a:t>OUR COMPETITION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a:lstStyle/>
          <a:p>
            <a:r>
              <a:rPr lang="en-US" dirty="0"/>
              <a:t>CONTOSO</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r>
              <a:rPr lang="en-US" noProof="1"/>
              <a:t>Our product is priced below that of other companies on the market</a:t>
            </a:r>
          </a:p>
          <a:p>
            <a:r>
              <a:rPr lang="en-US" noProof="1"/>
              <a:t>Design is simple and easy to use, compared to the complex designs of the competitors</a:t>
            </a:r>
          </a:p>
          <a:p>
            <a:r>
              <a:rPr lang="en-US"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a:lstStyle/>
          <a:p>
            <a:r>
              <a:rPr lang="en-US" dirty="0"/>
              <a:t>COMPETITORS</a:t>
            </a: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a:lstStyle/>
          <a:p>
            <a:r>
              <a:rPr lang="en-US" noProof="1"/>
              <a:t>Company A</a:t>
            </a:r>
            <a:br>
              <a:rPr lang="en-US" noProof="1"/>
            </a:br>
            <a:r>
              <a:rPr lang="en-US" noProof="1"/>
              <a:t>Product is more expensive</a:t>
            </a:r>
          </a:p>
          <a:p>
            <a:r>
              <a:rPr lang="en-US" noProof="1"/>
              <a:t>Companies B &amp; C </a:t>
            </a:r>
            <a:br>
              <a:rPr lang="en-US" noProof="1"/>
            </a:br>
            <a:r>
              <a:rPr lang="en-US" noProof="1"/>
              <a:t>Product is expensive and inconvenient to use</a:t>
            </a:r>
          </a:p>
          <a:p>
            <a:r>
              <a:rPr lang="en-US" noProof="1"/>
              <a:t>Companies D &amp; E</a:t>
            </a:r>
            <a:br>
              <a:rPr lang="en-US" noProof="1"/>
            </a:br>
            <a:r>
              <a:rPr lang="en-US"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a:lstStyle/>
          <a:p>
            <a:r>
              <a:rPr lang="en-US" dirty="0"/>
              <a:t>20XX</a:t>
            </a: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a:lstStyle/>
          <a:p>
            <a:r>
              <a:rPr lang="en-US" dirty="0"/>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a:normAutofit/>
          </a:bodyPr>
          <a:lstStyle/>
          <a:p>
            <a:r>
              <a:rPr lang="en-US" dirty="0"/>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a:normAutofit/>
          </a:bodyPr>
          <a:lstStyle/>
          <a:p>
            <a:r>
              <a:rPr lang="en-US" dirty="0"/>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a:lstStyle/>
          <a:p>
            <a:r>
              <a:rPr lang="en-US" dirty="0"/>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a:lstStyle/>
          <a:p>
            <a:r>
              <a:rPr lang="en-US" dirty="0"/>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a:normAutofit/>
          </a:bodyPr>
          <a:lstStyle/>
          <a:p>
            <a:r>
              <a:rPr lang="en-US" dirty="0"/>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a:lstStyle/>
          <a:p>
            <a:r>
              <a:rPr lang="en-US" dirty="0"/>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a:lstStyle/>
          <a:p>
            <a:r>
              <a:rPr lang="en-US" dirty="0"/>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a:lstStyle/>
          <a:p>
            <a:r>
              <a:rPr lang="en-US" dirty="0"/>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a:normAutofit/>
          </a:bodyPr>
          <a:lstStyle/>
          <a:p>
            <a:r>
              <a:rPr lang="en-US" dirty="0"/>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a:lstStyle/>
          <a:p>
            <a:r>
              <a:rPr lang="en-US" dirty="0"/>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13</a:t>
            </a:fld>
            <a:endParaRPr lang="en-US" dirty="0"/>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accent1">
                <a:lumMod val="75000"/>
              </a:schemeClr>
            </a:solidFill>
            <a:prstDash val="solid"/>
            <a:miter/>
          </a:ln>
        </p:spPr>
        <p:txBody>
          <a:bodyPr rtlCol="0" anchor="ctr"/>
          <a:lstStyle/>
          <a:p>
            <a:endParaRPr lang="en-US" dirty="0"/>
          </a:p>
        </p:txBody>
      </p:sp>
    </p:spTree>
    <p:extLst>
      <p:ext uri="{BB962C8B-B14F-4D97-AF65-F5344CB8AC3E}">
        <p14:creationId xmlns:p14="http://schemas.microsoft.com/office/powerpoint/2010/main" val="141739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a:lstStyle/>
          <a:p>
            <a:r>
              <a:rPr lang="en-US" dirty="0"/>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r>
              <a:rPr lang="en-US" dirty="0"/>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a:normAutofit/>
          </a:bodyPr>
          <a:lstStyle/>
          <a:p>
            <a:r>
              <a:rPr lang="en-US" dirty="0"/>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a:normAutofit lnSpcReduction="10000"/>
          </a:bodyPr>
          <a:lstStyle/>
          <a:p>
            <a:r>
              <a:rPr lang="en-US" dirty="0"/>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a:lstStyle/>
          <a:p>
            <a:r>
              <a:rPr lang="en-US" dirty="0"/>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a:normAutofit lnSpcReduction="10000"/>
          </a:bodyPr>
          <a:lstStyle/>
          <a:p>
            <a:r>
              <a:rPr lang="en-US" dirty="0"/>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a:normAutofit/>
          </a:bodyPr>
          <a:lstStyle/>
          <a:p>
            <a:r>
              <a:rPr lang="en-US" dirty="0"/>
              <a:t>Gather feedback and adjust product design as necessary</a:t>
            </a:r>
          </a:p>
          <a:p>
            <a:endParaRPr lang="en-US" dirty="0"/>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1472106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a:lstStyle/>
          <a:p>
            <a:r>
              <a:rPr lang="en-US"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a:lstStyle/>
          <a:p>
            <a:r>
              <a:rPr lang="en-US"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46906401"/>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a:r>
                        <a:rPr lang="en-US" sz="1400" b="0" cap="all" spc="150" baseline="0" dirty="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a:endParaRPr lang="en-US" sz="1200" dirty="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Clients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Orders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Gross revenue</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Net revenue</a:t>
                      </a:r>
                      <a:endParaRPr lang="ru-RU" sz="1200" kern="120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1100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$7,000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$16,000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$25,000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$40,000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a:normAutofit/>
          </a:bodyPr>
          <a:lstStyle/>
          <a:p>
            <a:r>
              <a:rPr lang="en-US" dirty="0"/>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2173192865"/>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2"/>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15</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DRAFT BLUEPRINTS</a:t>
            </a:r>
            <a:endParaRPr lang="en-US"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GATHER FEEDBACK</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DELIVER TO CLIENT</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RUN FOCUS GROUPS</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TEST DESIGN</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LAUNCH DESIGN</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16</a:t>
            </a:fld>
            <a:endParaRPr lang="en-US" dirty="0"/>
          </a:p>
        </p:txBody>
      </p:sp>
    </p:spTree>
    <p:extLst>
      <p:ext uri="{BB962C8B-B14F-4D97-AF65-F5344CB8AC3E}">
        <p14:creationId xmlns:p14="http://schemas.microsoft.com/office/powerpoint/2010/main" val="3084972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17</a:t>
            </a:fld>
            <a:endParaRPr lang="en-US" dirty="0"/>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sz="quarter" idx="16"/>
            <p:extLst>
              <p:ext uri="{D42A27DB-BD31-4B8C-83A1-F6EECF244321}">
                <p14:modId xmlns:p14="http://schemas.microsoft.com/office/powerpoint/2010/main" val="1922015435"/>
              </p:ext>
            </p:extLst>
          </p:nvPr>
        </p:nvGraphicFramePr>
        <p:xfrm>
          <a:off x="838200" y="182562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fontAlgn="b"/>
                      <a:endParaRPr lang="en-US" sz="1200" b="0" i="0" u="none" strike="noStrike" dirty="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1</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2</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3</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fontAlgn="b"/>
                      <a:endParaRPr lang="en-US" sz="1200" b="0"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fontAlgn="b"/>
                      <a:r>
                        <a:rPr lang="en-US" sz="1200" b="0" i="0" u="none" strike="noStrike" dirty="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fontAlgn="b"/>
                      <a:r>
                        <a:rPr lang="en-US" sz="1200" b="0" u="none" strike="noStrike" dirty="0">
                          <a:solidFill>
                            <a:schemeClr val="tx1"/>
                          </a:solidFill>
                          <a:effectLst/>
                        </a:rPr>
                        <a:t>Users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fontAlgn="b"/>
                      <a:r>
                        <a:rPr lang="en-US" sz="1200" b="0" u="none" strike="noStrike" dirty="0">
                          <a:solidFill>
                            <a:schemeClr val="tx1"/>
                          </a:solidFill>
                          <a:effectLst/>
                        </a:rPr>
                        <a:t>Sales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fontAlgn="b"/>
                      <a:r>
                        <a:rPr lang="en-US" sz="1200" b="0" u="none" strike="noStrike" dirty="0">
                          <a:solidFill>
                            <a:schemeClr val="tx1"/>
                          </a:solidFill>
                          <a:effectLst/>
                        </a:rPr>
                        <a:t>Average price per sale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75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80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fontAlgn="b"/>
                      <a:r>
                        <a:rPr lang="en-US" sz="1200" b="0" u="none" strike="noStrike" dirty="0">
                          <a:solidFill>
                            <a:schemeClr val="tx1"/>
                          </a:solidFill>
                          <a:effectLst/>
                        </a:rPr>
                        <a:t>Revenue @ 15%</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48,000,000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fontAlgn="b"/>
                      <a:r>
                        <a:rPr lang="en-US" sz="1200" b="1" u="none" strike="noStrike" dirty="0">
                          <a:solidFill>
                            <a:schemeClr val="tx1"/>
                          </a:solidFill>
                          <a:effectLst/>
                        </a:rPr>
                        <a:t>GROSS PROFIT</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5,625,000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48,000,000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216,000,000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fontAlgn="b"/>
                      <a:r>
                        <a:rPr lang="en-US" sz="1200" b="0" u="none" strike="noStrike" dirty="0">
                          <a:solidFill>
                            <a:schemeClr val="tx1"/>
                          </a:solidFill>
                          <a:effectLst/>
                        </a:rPr>
                        <a:t>Expenses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Sales &amp; marketing</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38,400,000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151,200,000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70%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Customer service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1,687,500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10%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Product development</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10,800,000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Research</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281,250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4,320,000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2%</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fontAlgn="b"/>
                      <a:r>
                        <a:rPr lang="en-US" sz="1200" b="1" u="none" strike="noStrike" dirty="0">
                          <a:solidFill>
                            <a:schemeClr val="tx1"/>
                          </a:solidFill>
                          <a:effectLst/>
                        </a:rPr>
                        <a:t>TOTAL EXPENSES</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7,593,750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52,800,000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187,920,000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a:lstStyle/>
          <a:p>
            <a:r>
              <a:rPr lang="en-US" dirty="0"/>
              <a:t>FUNDING</a:t>
            </a:r>
          </a:p>
        </p:txBody>
      </p:sp>
      <p:graphicFrame>
        <p:nvGraphicFramePr>
          <p:cNvPr id="58" name="Content Placeholder 57" title="Funding Chart">
            <a:extLst>
              <a:ext uri="{FF2B5EF4-FFF2-40B4-BE49-F238E27FC236}">
                <a16:creationId xmlns:a16="http://schemas.microsoft.com/office/drawing/2014/main" id="{0231F8BC-AEBA-4843-9F73-E06265724EAB}"/>
              </a:ext>
            </a:extLst>
          </p:cNvPr>
          <p:cNvGraphicFramePr>
            <a:graphicFrameLocks noGrp="1"/>
          </p:cNvGraphicFramePr>
          <p:nvPr>
            <p:ph sz="quarter" idx="21"/>
            <p:extLst>
              <p:ext uri="{D42A27DB-BD31-4B8C-83A1-F6EECF244321}">
                <p14:modId xmlns:p14="http://schemas.microsoft.com/office/powerpoint/2010/main" val="3157508600"/>
              </p:ext>
            </p:extLst>
          </p:nvPr>
        </p:nvGraphicFramePr>
        <p:xfrm>
          <a:off x="1074738" y="2370138"/>
          <a:ext cx="1857375" cy="1665287"/>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a:lstStyle/>
          <a:p>
            <a:r>
              <a:rPr lang="en-US"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a:lstStyle/>
          <a:p>
            <a:r>
              <a:rPr lang="en-US"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a:lstStyle/>
          <a:p>
            <a:r>
              <a:rPr lang="en-US" dirty="0"/>
              <a:t>Amount obtained through other investors</a:t>
            </a:r>
          </a:p>
        </p:txBody>
      </p:sp>
      <p:graphicFrame>
        <p:nvGraphicFramePr>
          <p:cNvPr id="59" name="Content Placeholder 58" title="Funding Chart">
            <a:extLst>
              <a:ext uri="{FF2B5EF4-FFF2-40B4-BE49-F238E27FC236}">
                <a16:creationId xmlns:a16="http://schemas.microsoft.com/office/drawing/2014/main" id="{AD7D64AB-F97A-41F1-B2E8-66B1E245043A}"/>
              </a:ext>
            </a:extLst>
          </p:cNvPr>
          <p:cNvGraphicFramePr>
            <a:graphicFrameLocks noGrp="1"/>
          </p:cNvGraphicFramePr>
          <p:nvPr>
            <p:ph sz="quarter" idx="22"/>
            <p:extLst>
              <p:ext uri="{D42A27DB-BD31-4B8C-83A1-F6EECF244321}">
                <p14:modId xmlns:p14="http://schemas.microsoft.com/office/powerpoint/2010/main" val="3021991828"/>
              </p:ext>
            </p:extLst>
          </p:nvPr>
        </p:nvGraphicFramePr>
        <p:xfrm>
          <a:off x="3805238" y="2370138"/>
          <a:ext cx="1857375" cy="166528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a:lstStyle/>
          <a:p>
            <a:r>
              <a:rPr lang="en-US"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a:lstStyle/>
          <a:p>
            <a:r>
              <a:rPr lang="en-US"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a:lstStyle/>
          <a:p>
            <a:r>
              <a:rPr lang="en-US" dirty="0"/>
              <a:t>Revenue obtained from property rentals</a:t>
            </a:r>
          </a:p>
        </p:txBody>
      </p:sp>
      <p:graphicFrame>
        <p:nvGraphicFramePr>
          <p:cNvPr id="60" name="Content Placeholder 59" title="Funding Chart">
            <a:extLst>
              <a:ext uri="{FF2B5EF4-FFF2-40B4-BE49-F238E27FC236}">
                <a16:creationId xmlns:a16="http://schemas.microsoft.com/office/drawing/2014/main" id="{81BCDC44-04F0-4390-B965-A86C88176708}"/>
              </a:ext>
            </a:extLst>
          </p:cNvPr>
          <p:cNvGraphicFramePr>
            <a:graphicFrameLocks noGrp="1"/>
          </p:cNvGraphicFramePr>
          <p:nvPr>
            <p:ph sz="quarter" idx="23"/>
            <p:extLst>
              <p:ext uri="{D42A27DB-BD31-4B8C-83A1-F6EECF244321}">
                <p14:modId xmlns:p14="http://schemas.microsoft.com/office/powerpoint/2010/main" val="2350556506"/>
              </p:ext>
            </p:extLst>
          </p:nvPr>
        </p:nvGraphicFramePr>
        <p:xfrm>
          <a:off x="6529388" y="2370138"/>
          <a:ext cx="1857375" cy="1665287"/>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a:lstStyle/>
          <a:p>
            <a:r>
              <a:rPr lang="en-US"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a:lstStyle/>
          <a:p>
            <a:r>
              <a:rPr lang="en-US"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a:lstStyle/>
          <a:p>
            <a:r>
              <a:rPr lang="en-US" dirty="0"/>
              <a:t>Number of shares converted into USD</a:t>
            </a:r>
          </a:p>
          <a:p>
            <a:endParaRPr lang="en-US" noProof="1"/>
          </a:p>
        </p:txBody>
      </p:sp>
      <p:graphicFrame>
        <p:nvGraphicFramePr>
          <p:cNvPr id="61" name="Content Placeholder 60" title="Funding Chart">
            <a:extLst>
              <a:ext uri="{FF2B5EF4-FFF2-40B4-BE49-F238E27FC236}">
                <a16:creationId xmlns:a16="http://schemas.microsoft.com/office/drawing/2014/main" id="{D78C801B-5A42-4B88-AF2C-A3C45CD69E2E}"/>
              </a:ext>
            </a:extLst>
          </p:cNvPr>
          <p:cNvGraphicFramePr>
            <a:graphicFrameLocks noGrp="1"/>
          </p:cNvGraphicFramePr>
          <p:nvPr>
            <p:ph sz="quarter" idx="24"/>
            <p:extLst>
              <p:ext uri="{D42A27DB-BD31-4B8C-83A1-F6EECF244321}">
                <p14:modId xmlns:p14="http://schemas.microsoft.com/office/powerpoint/2010/main" val="2617539870"/>
              </p:ext>
            </p:extLst>
          </p:nvPr>
        </p:nvGraphicFramePr>
        <p:xfrm>
          <a:off x="9259888" y="2370138"/>
          <a:ext cx="1857375" cy="1665287"/>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a:lstStyle/>
          <a:p>
            <a:r>
              <a:rPr lang="en-US"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a:lstStyle/>
          <a:p>
            <a:r>
              <a:rPr lang="en-US"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a:lstStyle/>
          <a:p>
            <a:r>
              <a:rPr lang="en-US" noProof="1"/>
              <a:t>Liquid cash we have on hand</a:t>
            </a:r>
          </a:p>
          <a:p>
            <a:endParaRPr lang="en-US"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11778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920173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MERCI</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Charlotte DOLIVEUX</a:t>
            </a:r>
          </a:p>
          <a:p>
            <a:r>
              <a:rPr lang="en-US" dirty="0"/>
              <a:t>charlotte.doliveux@ipsen.com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20</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{26E019B3-FDBE-4198-93EC-9F9203FE7809}TF1ed81438-95a7-4ae9-841d-43ea2c64f7fc8ae7ff09_win32-aa52a5bb69e3</Template>
  <TotalTime>25</TotalTime>
  <Words>867</Words>
  <Application>Microsoft Office PowerPoint</Application>
  <PresentationFormat>Grand écran</PresentationFormat>
  <Paragraphs>291</Paragraphs>
  <Slides>20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Tenorite</vt:lpstr>
      <vt:lpstr>Monoline</vt:lpstr>
      <vt:lpstr>EDA – Projet final</vt:lpstr>
      <vt:lpstr>agenda</vt:lpstr>
      <vt:lpstr>INTRODUCTION</vt:lpstr>
      <vt:lpstr>Méthodologie</vt:lpstr>
      <vt:lpstr>SOLUTION</vt:lpstr>
      <vt:lpstr>PRODUCT OVERVIEW</vt:lpstr>
      <vt:lpstr>PRODUCT BENEFITS</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FUNDING</vt:lpstr>
      <vt:lpstr>SUMMARY</vt:lpstr>
      <vt:lpstr>MERCI</vt:lpstr>
    </vt:vector>
  </TitlesOfParts>
  <Company>IPSEN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Charlotte DOLIVEUX</dc:creator>
  <cp:lastModifiedBy>Charlotte DOLIVEUX</cp:lastModifiedBy>
  <cp:revision>1</cp:revision>
  <dcterms:created xsi:type="dcterms:W3CDTF">2026-02-09T16:05:10Z</dcterms:created>
  <dcterms:modified xsi:type="dcterms:W3CDTF">2026-02-09T16:30:31Z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